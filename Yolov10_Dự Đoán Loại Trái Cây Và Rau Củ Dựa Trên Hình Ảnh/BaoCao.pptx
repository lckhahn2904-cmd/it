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182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60" r:id="rId9"/>
    <p:sldId id="273" r:id="rId10"/>
    <p:sldId id="263" r:id="rId11"/>
    <p:sldId id="262" r:id="rId12"/>
    <p:sldId id="272" r:id="rId13"/>
  </p:sldIdLst>
  <p:sldSz cx="14630400" cy="8229600"/>
  <p:notesSz cx="8229600" cy="14630400"/>
  <p:embeddedFontLst>
    <p:embeddedFont>
      <p:font typeface="Fraunces Extra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583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F19A1-3113-15AB-FF36-950116A66C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66924F-2EAB-1B7B-A807-933098001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05F50-F558-7C89-1AD2-F8CD3B242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7A74E-4D30-D22F-395D-2F65427B8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4F1A0-FB6B-65FA-5C3D-C37279EE5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18898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D73FB-D4AF-16A8-344C-F497C00DD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B1A73-9F31-1958-09E5-1DF14B829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9C843-B7FA-AD65-BA1B-9E56E90C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0E6F0-A161-5AD5-218C-0BDA8D41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8A05C-149A-D962-B668-C064443F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080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5D7C-310C-1D03-01E3-E3321956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C9D9C-220D-4467-5737-65607EC5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19085-F9BC-BAB2-6261-2AE991B2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CEC57-5E21-FAB7-862D-A7D2B6182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9732A-24D5-316A-431A-968CBE0FF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16887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F7D9-20B1-75EF-BEA1-E6438C34C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30C2E-935C-B248-CCC4-B24409913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19B1E-0325-490B-1B5D-46EC00697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7E365-4DBE-F3EA-D0E9-BDA264D78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C03EC-FF0A-528E-60C6-985579F3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697C3-5196-3E42-DC37-929DCCB7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1906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1074-32D6-E467-5A1A-B3EC75D7C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1FF034-EDF9-7FCD-F6A4-D900741B5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0EF95-40F4-5E97-0C9A-FA72EEA82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08DB6F-3CAF-ED09-48D3-70C2F0479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CE3C9-2C30-BD45-D45F-5F60BC930D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69E5FA-9F93-83E4-3A21-60DFDFB36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69F480-00E6-B829-0302-7675F3EFF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03A28E-5D65-66D9-73F1-E9DDC2EC2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7571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237D0-B9C2-2E4A-6AD8-1AA0E878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99723-EF48-352E-75BB-BFD41B74B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F6B8A6-9BC4-5D7D-FA2F-95C779D4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B755D-43F5-AED8-6F65-650E548C6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96707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BB006-B720-29E9-3F64-F08E7931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3D7AB1-B488-C42A-396D-F791D848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8FDD6-BA65-EFA9-11DD-46E397DA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67181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0B5FD-519F-5750-95C4-C393FD6C1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AEB1D-59B1-59F8-E596-66404CD71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94749-0F8E-330B-44B7-AEDDF1939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D8ADE-2C70-4150-C4C9-554005714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D8FBB-6AAB-EDAB-DE9B-023D229C7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40FD4A-BA93-2496-CB92-C29BA8EE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4607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46025-6829-334C-8E6C-01FD7965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AC9576-DA8A-8545-87E8-3E866D5E8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3806A-0B02-19FF-6576-F5BF5935E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2887B-581C-A11D-91AE-1C79568D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D11472-9697-E086-2089-4BFF6260D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AFB53-40DF-881E-2D1F-67640C633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8835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1522-6570-FA65-ACF0-E8E8C73CF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B8262-B75B-6ECC-53C0-E6B0377CA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0265F-A179-C510-52E1-0F2050F20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1C720-3572-E0CE-9280-AFF1CE8EC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9B01-82D4-615D-99EF-786C4C90B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8953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08D049-A876-A9C4-DC22-D51F72FF41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59C1A-5545-8E66-EFAF-6C9F30DAA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A4A7C-33FE-0A2F-E783-0B479AC6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88381-5C74-0713-79E6-3699C4F2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62AC8-B4A4-5101-4760-7F643D181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9511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07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85193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87445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715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820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311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F58B80-E670-6CA4-0FB4-DFFEBB7B5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D40FC-EC76-E4F0-8D7A-64CEB0FA1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55811-DD01-E228-4826-DC303B889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260A8-3E94-9B49-7D44-41BC40CEA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308DB-23F8-A01A-ACFF-56C86CEBED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761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  <p:sldLayoutId id="2147484194" r:id="rId12"/>
    <p:sldLayoutId id="2147484195" r:id="rId13"/>
    <p:sldLayoutId id="2147484196" r:id="rId14"/>
    <p:sldLayoutId id="2147484197" r:id="rId15"/>
    <p:sldLayoutId id="2147484198" r:id="rId16"/>
    <p:sldLayoutId id="2147484199" r:id="rId17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5011" y="1806917"/>
            <a:ext cx="8436924" cy="16812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5000" b="1" dirty="0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Dự Đoán Loại Trái Cây Và Rau Củ Dựa Trên </a:t>
            </a:r>
            <a:r>
              <a:rPr lang="en-US" sz="5000" b="1" dirty="0" err="1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Hình</a:t>
            </a:r>
            <a:r>
              <a:rPr lang="en-US" sz="5000" b="1" dirty="0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 </a:t>
            </a:r>
            <a:r>
              <a:rPr lang="en-US" sz="5000" b="1" dirty="0" err="1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Ảnh</a:t>
            </a: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47770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Picture 5" descr="A blue circle with white text and a head in a computer screen&#10;&#10;AI-generated content may be incorrect.">
            <a:extLst>
              <a:ext uri="{FF2B5EF4-FFF2-40B4-BE49-F238E27FC236}">
                <a16:creationId xmlns:a16="http://schemas.microsoft.com/office/drawing/2014/main" id="{427E1B6A-A008-97E3-02D7-46898F0D3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34" y="242716"/>
            <a:ext cx="850780" cy="807665"/>
          </a:xfrm>
          <a:prstGeom prst="rect">
            <a:avLst/>
          </a:prstGeom>
        </p:spPr>
      </p:pic>
      <p:pic>
        <p:nvPicPr>
          <p:cNvPr id="7" name="Picture 6" descr="A blue and gold logo&#10;&#10;AI-generated content may be incorrect.">
            <a:extLst>
              <a:ext uri="{FF2B5EF4-FFF2-40B4-BE49-F238E27FC236}">
                <a16:creationId xmlns:a16="http://schemas.microsoft.com/office/drawing/2014/main" id="{CA876731-A32C-EC0E-B870-75C6FA7E339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097" t="24891" r="30840" b="23348"/>
          <a:stretch/>
        </p:blipFill>
        <p:spPr>
          <a:xfrm>
            <a:off x="1446624" y="242715"/>
            <a:ext cx="850780" cy="8076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56109C-D93D-9377-8DBB-06DDC37ADA82}"/>
              </a:ext>
            </a:extLst>
          </p:cNvPr>
          <p:cNvSpPr txBox="1"/>
          <p:nvPr/>
        </p:nvSpPr>
        <p:spPr>
          <a:xfrm>
            <a:off x="983489" y="3772296"/>
            <a:ext cx="3972623" cy="7114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5500"/>
              </a:lnSpc>
              <a:buFont typeface="Wingdings" panose="05000000000000000000" pitchFamily="2" charset="2"/>
              <a:buChar char="v"/>
            </a:pP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Giới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thiệu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về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Nhóm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6:</a:t>
            </a: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15C2C3-994E-1238-B57A-B8CF6A305B63}"/>
              </a:ext>
            </a:extLst>
          </p:cNvPr>
          <p:cNvSpPr txBox="1"/>
          <p:nvPr/>
        </p:nvSpPr>
        <p:spPr>
          <a:xfrm>
            <a:off x="1446624" y="4578265"/>
            <a:ext cx="7315200" cy="453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v"/>
            </a:pPr>
            <a:r>
              <a:rPr lang="en-US" sz="2400" dirty="0" err="1"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Gồm</a:t>
            </a:r>
            <a:r>
              <a:rPr lang="en-US" sz="2400" dirty="0"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có</a:t>
            </a:r>
            <a:r>
              <a:rPr lang="en-US" sz="2400" dirty="0"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 Thành Viên:</a:t>
            </a:r>
            <a:endParaRPr lang="vi-VN" sz="2400" dirty="0"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7EA2CD-2BDF-ED4E-BB04-214F3CD35B77}"/>
              </a:ext>
            </a:extLst>
          </p:cNvPr>
          <p:cNvSpPr txBox="1"/>
          <p:nvPr/>
        </p:nvSpPr>
        <p:spPr>
          <a:xfrm>
            <a:off x="1872014" y="5299517"/>
            <a:ext cx="7315200" cy="837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Đỗ Kim Anh _ 2200002643</a:t>
            </a:r>
          </a:p>
          <a:p>
            <a:pPr marL="342900" indent="-342900">
              <a:lnSpc>
                <a:spcPts val="3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ea typeface="Quattrocento" pitchFamily="34" charset="-122"/>
                <a:cs typeface="Times New Roman" panose="02020603050405020304" pitchFamily="18" charset="0"/>
              </a:rPr>
              <a:t>Lê Chí Kha _ 2200002544</a:t>
            </a:r>
            <a:endParaRPr lang="vi-VN" sz="2400" dirty="0">
              <a:latin typeface="Times New Roman" panose="02020603050405020304" pitchFamily="18" charset="0"/>
              <a:ea typeface="Quattrocento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4024" y="1300916"/>
            <a:ext cx="7556421" cy="10561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Thuyết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Shape 1"/>
          <p:cNvSpPr/>
          <p:nvPr/>
        </p:nvSpPr>
        <p:spPr>
          <a:xfrm>
            <a:off x="793790" y="227705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529477" y="2376964"/>
            <a:ext cx="38645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75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4024" y="4194155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74748" y="3318212"/>
            <a:ext cx="3011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420321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529477" y="4379894"/>
            <a:ext cx="30503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Phương pháp tiếp cận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3790" y="6541532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700152" y="6584256"/>
            <a:ext cx="39640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4301324A-4EC3-A428-F404-90B34323A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17" name="Shape 4">
            <a:extLst>
              <a:ext uri="{FF2B5EF4-FFF2-40B4-BE49-F238E27FC236}">
                <a16:creationId xmlns:a16="http://schemas.microsoft.com/office/drawing/2014/main" id="{85B31C56-AD58-1717-A2A6-6AE4E0C78520}"/>
              </a:ext>
            </a:extLst>
          </p:cNvPr>
          <p:cNvSpPr/>
          <p:nvPr/>
        </p:nvSpPr>
        <p:spPr>
          <a:xfrm>
            <a:off x="764024" y="3202768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66FDCF0F-8EB1-1D83-C62E-B8DC6C387B9C}"/>
              </a:ext>
            </a:extLst>
          </p:cNvPr>
          <p:cNvSpPr/>
          <p:nvPr/>
        </p:nvSpPr>
        <p:spPr>
          <a:xfrm>
            <a:off x="1602264" y="5498307"/>
            <a:ext cx="35231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790" y="1165701"/>
            <a:ext cx="1192887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indent="-685800" algn="l">
              <a:lnSpc>
                <a:spcPts val="5550"/>
              </a:lnSpc>
              <a:buFont typeface="Wingdings" panose="05000000000000000000" pitchFamily="2" charset="2"/>
              <a:buChar char="q"/>
            </a:pP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thiệu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lang="en-US" sz="44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39790" y="2277307"/>
            <a:ext cx="7499310" cy="92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555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do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9790" y="3155207"/>
            <a:ext cx="8274010" cy="708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21088-E228-73A1-AE17-B3BFC1FCA30B}"/>
              </a:ext>
            </a:extLst>
          </p:cNvPr>
          <p:cNvSpPr txBox="1"/>
          <p:nvPr/>
        </p:nvSpPr>
        <p:spPr>
          <a:xfrm>
            <a:off x="539790" y="3741543"/>
            <a:ext cx="90487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+mj-lt"/>
              </a:rPr>
              <a:t>Ứng dụng thực tế: nông nghiệp, thương mại điện tử</a:t>
            </a:r>
            <a:endParaRPr lang="en-US" sz="2400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6B5B7546-9820-9D7D-BADA-028ABD1C0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C12142-1A36-CF41-92FC-FB42AB33F1AA}"/>
              </a:ext>
            </a:extLst>
          </p:cNvPr>
          <p:cNvSpPr txBox="1"/>
          <p:nvPr/>
        </p:nvSpPr>
        <p:spPr>
          <a:xfrm>
            <a:off x="606735" y="430808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77E90E-5942-9C30-B59F-A2A08AD2731F}"/>
              </a:ext>
            </a:extLst>
          </p:cNvPr>
          <p:cNvSpPr txBox="1"/>
          <p:nvPr/>
        </p:nvSpPr>
        <p:spPr>
          <a:xfrm>
            <a:off x="724829" y="1448764"/>
            <a:ext cx="73152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000000"/>
                </a:solidFill>
              </a:defRPr>
            </a:pPr>
            <a:r>
              <a:rPr lang="en-US" dirty="0"/>
              <a:t>•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CBE89F-DA07-F926-3664-79D687C1FEF2}"/>
              </a:ext>
            </a:extLst>
          </p:cNvPr>
          <p:cNvSpPr txBox="1"/>
          <p:nvPr/>
        </p:nvSpPr>
        <p:spPr>
          <a:xfrm>
            <a:off x="825190" y="310150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>
                <a:solidFill>
                  <a:srgbClr val="000000"/>
                </a:solidFill>
              </a:defRPr>
            </a:pPr>
            <a:r>
              <a:rPr lang="en-US" sz="2400" dirty="0"/>
              <a:t>• Quy </a:t>
            </a:r>
            <a:r>
              <a:rPr lang="en-US" sz="2400" dirty="0" err="1"/>
              <a:t>mô</a:t>
            </a:r>
            <a:r>
              <a:rPr lang="en-US" sz="2400" dirty="0"/>
              <a:t> </a:t>
            </a:r>
            <a:r>
              <a:rPr lang="en-US" sz="2400" dirty="0" err="1"/>
              <a:t>dữ</a:t>
            </a:r>
            <a:r>
              <a:rPr lang="en-US" sz="2400" dirty="0"/>
              <a:t> </a:t>
            </a:r>
            <a:r>
              <a:rPr lang="en-US" sz="2400" dirty="0" err="1"/>
              <a:t>liệu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FE3D20-AE81-DF20-BFC4-9B33198B2607}"/>
              </a:ext>
            </a:extLst>
          </p:cNvPr>
          <p:cNvSpPr txBox="1"/>
          <p:nvPr/>
        </p:nvSpPr>
        <p:spPr>
          <a:xfrm>
            <a:off x="1828800" y="2317646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Kaggle, ImageNet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F5C049-F3CD-90FF-9A60-C2986E5739A7}"/>
              </a:ext>
            </a:extLst>
          </p:cNvPr>
          <p:cNvSpPr txBox="1"/>
          <p:nvPr/>
        </p:nvSpPr>
        <p:spPr>
          <a:xfrm>
            <a:off x="1828800" y="3991004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- 4.177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chia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36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9114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53E620-C0B3-B525-6E70-67280837F7A8}"/>
              </a:ext>
            </a:extLst>
          </p:cNvPr>
          <p:cNvSpPr txBox="1"/>
          <p:nvPr/>
        </p:nvSpPr>
        <p:spPr>
          <a:xfrm>
            <a:off x="412595" y="148483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q"/>
            </a:pP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1F8D0-41DD-3183-39A5-9224232349EA}"/>
              </a:ext>
            </a:extLst>
          </p:cNvPr>
          <p:cNvSpPr txBox="1"/>
          <p:nvPr/>
        </p:nvSpPr>
        <p:spPr>
          <a:xfrm>
            <a:off x="895837" y="6473164"/>
            <a:ext cx="7493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4,177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36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B95A3-1DF6-B6C6-FB56-47B2827D40E5}"/>
              </a:ext>
            </a:extLst>
          </p:cNvPr>
          <p:cNvSpPr txBox="1"/>
          <p:nvPr/>
        </p:nvSpPr>
        <p:spPr>
          <a:xfrm>
            <a:off x="672812" y="2226807"/>
            <a:ext cx="79396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File Name, Label, Relative Path.</a:t>
            </a:r>
          </a:p>
        </p:txBody>
      </p:sp>
      <p:pic>
        <p:nvPicPr>
          <p:cNvPr id="13" name="Picture 12" descr="A table with text on it&#10;&#10;AI-generated content may be incorrect.">
            <a:extLst>
              <a:ext uri="{FF2B5EF4-FFF2-40B4-BE49-F238E27FC236}">
                <a16:creationId xmlns:a16="http://schemas.microsoft.com/office/drawing/2014/main" id="{A84EE348-81ED-128F-E2AF-3429F10B1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8222" y="1109324"/>
            <a:ext cx="6482525" cy="3047455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900EC7-E7A9-82A7-2531-C695425F1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396" y="4776094"/>
            <a:ext cx="7493619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34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E3C1B0-2C1D-7F72-2EFF-3E1A58A232D0}"/>
              </a:ext>
            </a:extLst>
          </p:cNvPr>
          <p:cNvSpPr txBox="1"/>
          <p:nvPr/>
        </p:nvSpPr>
        <p:spPr>
          <a:xfrm>
            <a:off x="5574275" y="-19842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vi-VN" sz="4800" dirty="0">
                <a:latin typeface="+mj-lt"/>
              </a:rPr>
              <a:t>Phương pháp tiếp cận</a:t>
            </a:r>
            <a:r>
              <a:rPr lang="en-US" sz="4800" dirty="0">
                <a:latin typeface="+mj-lt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90B1B-75CB-7F4A-AEBE-F188ACE36D96}"/>
              </a:ext>
            </a:extLst>
          </p:cNvPr>
          <p:cNvSpPr txBox="1"/>
          <p:nvPr/>
        </p:nvSpPr>
        <p:spPr>
          <a:xfrm>
            <a:off x="371940" y="449204"/>
            <a:ext cx="7410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8AFB10-7089-2846-56D8-5F6E9C660311}"/>
              </a:ext>
            </a:extLst>
          </p:cNvPr>
          <p:cNvSpPr txBox="1"/>
          <p:nvPr/>
        </p:nvSpPr>
        <p:spPr>
          <a:xfrm>
            <a:off x="7928517" y="653672"/>
            <a:ext cx="7835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800" dirty="0">
                <a:latin typeface="+mj-lt"/>
              </a:rPr>
              <a:t>MobileNetV2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33D834-9840-37DF-6A15-1B4E63C62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5282"/>
            <a:ext cx="5382089" cy="2706333"/>
          </a:xfrm>
          <a:prstGeom prst="rect">
            <a:avLst/>
          </a:prstGeom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14DF030-AC5A-1A65-6016-8593D27A80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162"/>
          <a:stretch/>
        </p:blipFill>
        <p:spPr>
          <a:xfrm>
            <a:off x="14520" y="3621615"/>
            <a:ext cx="4378480" cy="3281906"/>
          </a:xfrm>
          <a:prstGeom prst="rect">
            <a:avLst/>
          </a:prstGeom>
        </p:spPr>
      </p:pic>
      <p:pic>
        <p:nvPicPr>
          <p:cNvPr id="8" name="Picture 7" descr="A close-up of words&#10;&#10;AI-generated content may be incorrect.">
            <a:extLst>
              <a:ext uri="{FF2B5EF4-FFF2-40B4-BE49-F238E27FC236}">
                <a16:creationId xmlns:a16="http://schemas.microsoft.com/office/drawing/2014/main" id="{4729DD68-366B-C582-A9C8-1011B740F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854998"/>
            <a:ext cx="6285338" cy="843437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5114F72F-BB95-8624-E396-F628F8146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895" y="6614480"/>
            <a:ext cx="6802244" cy="1387554"/>
          </a:xfrm>
          <a:prstGeom prst="rect">
            <a:avLst/>
          </a:prstGeom>
        </p:spPr>
      </p:pic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D28933D-F97C-EAD4-6BC4-AACE59E5E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895" y="1237497"/>
            <a:ext cx="7387408" cy="511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828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BDA3-CF52-568D-DC66-816C30AA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BEFFDC-FCFA-4C9B-3571-E5AFB7222546}"/>
              </a:ext>
            </a:extLst>
          </p:cNvPr>
          <p:cNvSpPr txBox="1"/>
          <p:nvPr/>
        </p:nvSpPr>
        <p:spPr>
          <a:xfrm>
            <a:off x="0" y="134389"/>
            <a:ext cx="60192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huấn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4675C-1011-D277-0163-00E81BD36594}"/>
              </a:ext>
            </a:extLst>
          </p:cNvPr>
          <p:cNvSpPr txBox="1"/>
          <p:nvPr/>
        </p:nvSpPr>
        <p:spPr>
          <a:xfrm>
            <a:off x="97332" y="1174117"/>
            <a:ext cx="74104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Biểu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Accuracy/Loss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40A6E-C03F-32DC-F68A-702DFAE38389}"/>
              </a:ext>
            </a:extLst>
          </p:cNvPr>
          <p:cNvSpPr txBox="1"/>
          <p:nvPr/>
        </p:nvSpPr>
        <p:spPr>
          <a:xfrm>
            <a:off x="387466" y="4655692"/>
            <a:ext cx="78359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trận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nhầm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2" name="Picture 1" descr="A close-up of a sign&#10;&#10;AI-generated content may be incorrect.">
            <a:extLst>
              <a:ext uri="{FF2B5EF4-FFF2-40B4-BE49-F238E27FC236}">
                <a16:creationId xmlns:a16="http://schemas.microsoft.com/office/drawing/2014/main" id="{0849DC96-5FA8-6C81-D068-268C2AD819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943" y="3137348"/>
            <a:ext cx="5874295" cy="1406439"/>
          </a:xfrm>
          <a:prstGeom prst="rect">
            <a:avLst/>
          </a:prstGeom>
        </p:spPr>
      </p:pic>
      <p:pic>
        <p:nvPicPr>
          <p:cNvPr id="4" name="Picture 3" descr="A graph of a line&#10;&#10;AI-generated content may be incorrect.">
            <a:extLst>
              <a:ext uri="{FF2B5EF4-FFF2-40B4-BE49-F238E27FC236}">
                <a16:creationId xmlns:a16="http://schemas.microsoft.com/office/drawing/2014/main" id="{3AF17640-457B-78D0-EEAE-EF5586E16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3668" y="326502"/>
            <a:ext cx="4326673" cy="3545371"/>
          </a:xfrm>
          <a:prstGeom prst="rect">
            <a:avLst/>
          </a:prstGeom>
        </p:spPr>
      </p:pic>
      <p:pic>
        <p:nvPicPr>
          <p:cNvPr id="6" name="Picture 5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588EA6FD-9C1D-870D-BF82-1E699064E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19" y="1667957"/>
            <a:ext cx="5478927" cy="1406438"/>
          </a:xfrm>
          <a:prstGeom prst="rect">
            <a:avLst/>
          </a:prstGeom>
        </p:spPr>
      </p:pic>
      <p:pic>
        <p:nvPicPr>
          <p:cNvPr id="8" name="Picture 7" descr="A graph of a graph with numbers and lines&#10;&#10;AI-generated content may be incorrect.">
            <a:extLst>
              <a:ext uri="{FF2B5EF4-FFF2-40B4-BE49-F238E27FC236}">
                <a16:creationId xmlns:a16="http://schemas.microsoft.com/office/drawing/2014/main" id="{336EEEFC-8D2C-96B3-E3CA-ED674698C1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341" y="326501"/>
            <a:ext cx="4552727" cy="3545371"/>
          </a:xfrm>
          <a:prstGeom prst="rect">
            <a:avLst/>
          </a:prstGeom>
        </p:spPr>
      </p:pic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2E55C9FC-BC6E-1B9F-EE7C-6502026E81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8" y="5291058"/>
            <a:ext cx="5919840" cy="2537351"/>
          </a:xfrm>
          <a:prstGeom prst="rect">
            <a:avLst/>
          </a:prstGeom>
        </p:spPr>
      </p:pic>
      <p:pic>
        <p:nvPicPr>
          <p:cNvPr id="10" name="Picture 9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F96B71F0-0774-2FBC-BA57-1DE606521B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6380" y="3868147"/>
            <a:ext cx="7410449" cy="436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36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44247"/>
            <a:ext cx="81724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5D9E32-DF38-6295-BC4C-C2EB0E434EFA}"/>
              </a:ext>
            </a:extLst>
          </p:cNvPr>
          <p:cNvSpPr/>
          <p:nvPr/>
        </p:nvSpPr>
        <p:spPr>
          <a:xfrm>
            <a:off x="12790449" y="7761249"/>
            <a:ext cx="1839951" cy="4683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F2C82A-7BA6-DF8D-C977-1131B4A9B6E1}"/>
              </a:ext>
            </a:extLst>
          </p:cNvPr>
          <p:cNvSpPr txBox="1"/>
          <p:nvPr/>
        </p:nvSpPr>
        <p:spPr>
          <a:xfrm>
            <a:off x="490074" y="204321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56F180-B19F-0F41-633B-C9F1D30A989B}"/>
              </a:ext>
            </a:extLst>
          </p:cNvPr>
          <p:cNvSpPr txBox="1"/>
          <p:nvPr/>
        </p:nvSpPr>
        <p:spPr>
          <a:xfrm>
            <a:off x="380615" y="2299456"/>
            <a:ext cx="7721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800" dirty="0">
                <a:latin typeface="+mj-lt"/>
              </a:rPr>
              <a:t>CNN đơn giản: Accuracy ~78%.</a:t>
            </a:r>
            <a:endParaRPr lang="en-US" sz="2800" dirty="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CD433-3968-CE0F-FA6C-BB1A8DD93E6A}"/>
              </a:ext>
            </a:extLst>
          </p:cNvPr>
          <p:cNvSpPr txBox="1"/>
          <p:nvPr/>
        </p:nvSpPr>
        <p:spPr>
          <a:xfrm>
            <a:off x="759757" y="4976574"/>
            <a:ext cx="8343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>
                <a:latin typeface="+mj-lt"/>
              </a:rPr>
              <a:t>MobileNetV2: Accuracy ~96.7%.</a:t>
            </a:r>
            <a:br>
              <a:rPr lang="vi-VN" sz="2400" dirty="0">
                <a:latin typeface="+mj-lt"/>
              </a:rPr>
            </a:br>
            <a:r>
              <a:rPr lang="vi-VN" sz="2400" dirty="0">
                <a:latin typeface="+mj-lt"/>
              </a:rPr>
              <a:t>➔ MobileNetV2 thể hiện sự vượt trội về hiệu suất.</a:t>
            </a:r>
            <a:endParaRPr lang="en-US" sz="2400" dirty="0">
              <a:latin typeface="+mj-lt"/>
            </a:endParaRPr>
          </a:p>
        </p:txBody>
      </p:sp>
      <p:pic>
        <p:nvPicPr>
          <p:cNvPr id="4" name="Picture 3" descr="A close-up of text&#10;&#10;AI-generated content may be incorrect.">
            <a:extLst>
              <a:ext uri="{FF2B5EF4-FFF2-40B4-BE49-F238E27FC236}">
                <a16:creationId xmlns:a16="http://schemas.microsoft.com/office/drawing/2014/main" id="{4801DADD-90B0-04E7-7E28-D0FCF99AC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332" y="5887199"/>
            <a:ext cx="7645676" cy="1800517"/>
          </a:xfrm>
          <a:prstGeom prst="rect">
            <a:avLst/>
          </a:prstGeom>
        </p:spPr>
      </p:pic>
      <p:pic>
        <p:nvPicPr>
          <p:cNvPr id="6" name="Picture 5" descr="A white page with black text&#10;&#10;AI-generated content may be incorrect.">
            <a:extLst>
              <a:ext uri="{FF2B5EF4-FFF2-40B4-BE49-F238E27FC236}">
                <a16:creationId xmlns:a16="http://schemas.microsoft.com/office/drawing/2014/main" id="{D888D257-BDAE-13F6-F69F-BDDE8561648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464" r="25975" b="53829"/>
          <a:stretch/>
        </p:blipFill>
        <p:spPr>
          <a:xfrm>
            <a:off x="6245730" y="869795"/>
            <a:ext cx="5715854" cy="4296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635A5A-EDE6-4C54-B158-A333B3FC74C6}"/>
              </a:ext>
            </a:extLst>
          </p:cNvPr>
          <p:cNvSpPr txBox="1"/>
          <p:nvPr/>
        </p:nvSpPr>
        <p:spPr>
          <a:xfrm>
            <a:off x="602167" y="227928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endParaRPr lang="en-US" sz="4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2B1F11-B890-2C21-6A8A-A699951C5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8" y="1630753"/>
            <a:ext cx="7761247" cy="1982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5D99D2-47A3-D824-0481-2D2E17A76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88" y="5798635"/>
            <a:ext cx="7259063" cy="800212"/>
          </a:xfrm>
          <a:prstGeom prst="rect">
            <a:avLst/>
          </a:prstGeom>
        </p:spPr>
      </p:pic>
      <p:pic>
        <p:nvPicPr>
          <p:cNvPr id="12" name="Picture 11" descr="A pile of fruit on a white surface&#10;&#10;AI-generated content may be incorrect.">
            <a:extLst>
              <a:ext uri="{FF2B5EF4-FFF2-40B4-BE49-F238E27FC236}">
                <a16:creationId xmlns:a16="http://schemas.microsoft.com/office/drawing/2014/main" id="{948756D6-0ACD-BD5F-082F-66A9A46ED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749" y="254889"/>
            <a:ext cx="5812572" cy="3859911"/>
          </a:xfrm>
          <a:prstGeom prst="rect">
            <a:avLst/>
          </a:prstGeom>
        </p:spPr>
      </p:pic>
      <p:pic>
        <p:nvPicPr>
          <p:cNvPr id="14" name="Picture 13" descr="A group of fruits with green squares&#10;&#10;AI-generated content may be incorrect.">
            <a:extLst>
              <a:ext uri="{FF2B5EF4-FFF2-40B4-BE49-F238E27FC236}">
                <a16:creationId xmlns:a16="http://schemas.microsoft.com/office/drawing/2014/main" id="{0F22134D-A5FC-5810-7F82-A47A4C8E5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4749" y="4288854"/>
            <a:ext cx="6001778" cy="366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487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65200" y="1757621"/>
            <a:ext cx="7969210" cy="13167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85800" indent="-685800" algn="l">
              <a:lnSpc>
                <a:spcPts val="5550"/>
              </a:lnSpc>
              <a:buFont typeface="Wingdings" panose="05000000000000000000" pitchFamily="2" charset="2"/>
              <a:buChar char="q"/>
            </a:pP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xét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3727847"/>
            <a:ext cx="170021" cy="853321"/>
          </a:xfrm>
          <a:prstGeom prst="roundRect">
            <a:avLst>
              <a:gd name="adj" fmla="val 12007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790373" y="37364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>
                <a:solidFill>
                  <a:srgbClr val="405449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Độ chính xác cao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790372" y="4218265"/>
            <a:ext cx="7649527" cy="264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MobileNetV2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620351" y="4807982"/>
            <a:ext cx="170021" cy="853321"/>
          </a:xfrm>
          <a:prstGeom prst="roundRect">
            <a:avLst>
              <a:gd name="adj" fmla="val 12007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130534" y="48079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 err="1">
                <a:solidFill>
                  <a:srgbClr val="4054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lang="en-US" sz="3000" b="1" dirty="0">
                <a:solidFill>
                  <a:srgbClr val="4054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4054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130534" y="5298400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ạn chế do mất cân bằng dữ liệu và ảnh chất lượng thấp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60632" y="5888117"/>
            <a:ext cx="170021" cy="853321"/>
          </a:xfrm>
          <a:prstGeom prst="roundRect">
            <a:avLst>
              <a:gd name="adj" fmla="val 120071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470815" y="5888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000" b="1" dirty="0" err="1">
                <a:solidFill>
                  <a:srgbClr val="4054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Tiềm</a:t>
            </a:r>
            <a:r>
              <a:rPr lang="en-US" sz="3000" b="1" dirty="0">
                <a:solidFill>
                  <a:srgbClr val="4054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solidFill>
                  <a:srgbClr val="40544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470815" y="6378535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BBE01957-F5C3-E51B-A304-F5B257E49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04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4770"/>
            <a:ext cx="121628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Tiềm</a:t>
            </a:r>
            <a:r>
              <a:rPr lang="en-US" sz="4450" b="1" dirty="0">
                <a:solidFill>
                  <a:srgbClr val="3B4540"/>
                </a:solidFill>
                <a:latin typeface="Times New Roman" panose="02020603050405020304" pitchFamily="18" charset="0"/>
                <a:ea typeface="Fraunces Extra Bold" pitchFamily="34" charset="-122"/>
                <a:cs typeface="Times New Roman" panose="02020603050405020304" pitchFamily="18" charset="0"/>
              </a:rPr>
              <a:t> Năng Và Hướng Phát Triển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857256" y="2185929"/>
            <a:ext cx="32321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r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6791" y="2786301"/>
            <a:ext cx="5092700" cy="109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thập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200" dirty="0">
                <a:solidFill>
                  <a:srgbClr val="405449"/>
                </a:solidFill>
                <a:latin typeface="Times New Roman" panose="02020603050405020304" pitchFamily="18" charset="0"/>
                <a:ea typeface="Nobile" pitchFamily="34" charset="-122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33492" y="3336369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530893" y="2085737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vi-VN" sz="2800" dirty="0">
                <a:latin typeface="+mj-lt"/>
              </a:rPr>
              <a:t>Tối ưu mô hình</a:t>
            </a:r>
            <a:endParaRPr lang="en-US" sz="28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9530892" y="2542638"/>
            <a:ext cx="5099507" cy="1336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00" dirty="0"/>
              <a:t>C</a:t>
            </a:r>
            <a:r>
              <a:rPr lang="vi-VN" sz="2200" dirty="0"/>
              <a:t>huyển mô hình sang phiên bản nhẹ hơn như MobileNetV3 hoặc EfficientNet để triển khai trên các thiết bị di độn</a:t>
            </a:r>
            <a:r>
              <a:rPr lang="en-US" sz="2200" dirty="0"/>
              <a:t>g</a:t>
            </a: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893010" y="3071693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738160" y="4490519"/>
            <a:ext cx="38988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750743" y="5022037"/>
            <a:ext cx="5032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vi-V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iểm tra, phân loại và đánh giá chất lượng nông sản theo thời gian thực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719423" y="475845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9119512" y="6597610"/>
            <a:ext cx="38988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hương mại điện tử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9119512" y="7072489"/>
            <a:ext cx="53938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vi-V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ỗ trợ người dùng tìm kiếm và xác định sản phẩm qua ảnh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70564" y="606552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2650" dirty="0"/>
          </a:p>
        </p:txBody>
      </p:sp>
      <p:sp>
        <p:nvSpPr>
          <p:cNvPr id="19" name="Text 13"/>
          <p:cNvSpPr/>
          <p:nvPr/>
        </p:nvSpPr>
        <p:spPr>
          <a:xfrm>
            <a:off x="1771651" y="50780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457200" indent="-457200" algn="r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Giáo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dục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108345" y="5742176"/>
            <a:ext cx="5218789" cy="1283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nông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10595" y="5186720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</a:t>
            </a:r>
            <a:endParaRPr lang="en-US" sz="2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173BE8-BE87-9633-F22F-6F07AB423688}"/>
              </a:ext>
            </a:extLst>
          </p:cNvPr>
          <p:cNvSpPr txBox="1"/>
          <p:nvPr/>
        </p:nvSpPr>
        <p:spPr>
          <a:xfrm>
            <a:off x="2819400" y="3253026"/>
            <a:ext cx="9271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 everyone!</a:t>
            </a:r>
          </a:p>
        </p:txBody>
      </p:sp>
    </p:spTree>
    <p:extLst>
      <p:ext uri="{BB962C8B-B14F-4D97-AF65-F5344CB8AC3E}">
        <p14:creationId xmlns:p14="http://schemas.microsoft.com/office/powerpoint/2010/main" val="202017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412</Words>
  <Application>Microsoft Office PowerPoint</Application>
  <PresentationFormat>Custom</PresentationFormat>
  <Paragraphs>63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Fraunces Extra Bold</vt:lpstr>
      <vt:lpstr>Wingdings</vt:lpstr>
      <vt:lpstr>Arial</vt:lpstr>
      <vt:lpstr>Aptos Display</vt:lpstr>
      <vt:lpstr>Times New Roman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Đỗ Kim Anh</cp:lastModifiedBy>
  <cp:revision>12</cp:revision>
  <dcterms:created xsi:type="dcterms:W3CDTF">2025-04-25T14:47:18Z</dcterms:created>
  <dcterms:modified xsi:type="dcterms:W3CDTF">2025-04-28T17:52:17Z</dcterms:modified>
</cp:coreProperties>
</file>