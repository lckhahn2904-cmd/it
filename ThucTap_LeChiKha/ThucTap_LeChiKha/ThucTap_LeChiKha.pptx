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304" r:id="rId3"/>
    <p:sldId id="306" r:id="rId4"/>
    <p:sldId id="261" r:id="rId5"/>
    <p:sldId id="311" r:id="rId6"/>
    <p:sldId id="270" r:id="rId7"/>
    <p:sldId id="316" r:id="rId8"/>
    <p:sldId id="317" r:id="rId9"/>
    <p:sldId id="287" r:id="rId10"/>
    <p:sldId id="318" r:id="rId11"/>
    <p:sldId id="314" r:id="rId12"/>
    <p:sldId id="307" r:id="rId13"/>
    <p:sldId id="279" r:id="rId14"/>
    <p:sldId id="295" r:id="rId15"/>
    <p:sldId id="296" r:id="rId16"/>
    <p:sldId id="308" r:id="rId17"/>
    <p:sldId id="313" r:id="rId18"/>
    <p:sldId id="297" r:id="rId19"/>
    <p:sldId id="280" r:id="rId20"/>
    <p:sldId id="319" r:id="rId21"/>
    <p:sldId id="298" r:id="rId22"/>
    <p:sldId id="320" r:id="rId23"/>
    <p:sldId id="309" r:id="rId24"/>
    <p:sldId id="315" r:id="rId25"/>
    <p:sldId id="271" r:id="rId26"/>
    <p:sldId id="300" r:id="rId27"/>
    <p:sldId id="299" r:id="rId28"/>
    <p:sldId id="301" r:id="rId29"/>
    <p:sldId id="2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524094A3-1D11-42D0-92AA-189B4EEA6A2A}">
          <p14:sldIdLst>
            <p14:sldId id="256"/>
            <p14:sldId id="304"/>
            <p14:sldId id="306"/>
            <p14:sldId id="261"/>
            <p14:sldId id="311"/>
            <p14:sldId id="270"/>
            <p14:sldId id="316"/>
            <p14:sldId id="317"/>
            <p14:sldId id="287"/>
            <p14:sldId id="318"/>
            <p14:sldId id="314"/>
            <p14:sldId id="307"/>
            <p14:sldId id="279"/>
            <p14:sldId id="295"/>
            <p14:sldId id="296"/>
            <p14:sldId id="308"/>
            <p14:sldId id="313"/>
            <p14:sldId id="297"/>
            <p14:sldId id="280"/>
            <p14:sldId id="319"/>
            <p14:sldId id="298"/>
            <p14:sldId id="320"/>
            <p14:sldId id="309"/>
            <p14:sldId id="315"/>
            <p14:sldId id="271"/>
            <p14:sldId id="300"/>
            <p14:sldId id="299"/>
            <p14:sldId id="301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AE9"/>
    <a:srgbClr val="FFFFFF"/>
    <a:srgbClr val="7F7F7F"/>
    <a:srgbClr val="5357EF"/>
    <a:srgbClr val="0B66B1"/>
    <a:srgbClr val="0E85E8"/>
    <a:srgbClr val="3BA0F3"/>
    <a:srgbClr val="7DC0F7"/>
    <a:srgbClr val="8DB5EF"/>
    <a:srgbClr val="6034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6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76AB69-CECF-C169-D666-9AF1C4157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99F9A-CCEF-E9F5-9963-E4032DA662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99063-EB23-4E7C-94EA-592226CD622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02EE4-2C97-60EC-0425-3149E105CA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KHOA CÔNG NGHỆ THÔNG TIN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075CE-1402-2768-B38A-414E99712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76DA1-9799-4400-965F-867A009A2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204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33B71-E97E-41B9-BBC9-091EC80374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KHOA CÔNG NGHỆ THÔNG TIN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BD8CD-DB48-47EC-9629-013A9E3E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855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BD8CD-DB48-47EC-9629-013A9E3EFF3E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E3147-F1A8-4724-D1C1-E0A01DD329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414464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9CEE31-E72A-C3A6-9E37-138F082D6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1220724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DD80D6E-959D-D5AF-85EC-7F0B13ACD463}"/>
              </a:ext>
            </a:extLst>
          </p:cNvPr>
          <p:cNvSpPr/>
          <p:nvPr userDrawn="1"/>
        </p:nvSpPr>
        <p:spPr>
          <a:xfrm>
            <a:off x="-15240" y="-13449"/>
            <a:ext cx="12192000" cy="71407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5A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-15240" y="720000"/>
            <a:ext cx="12176760" cy="19389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FE26ED2-962F-DB64-506A-D3831798A1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12484" y="35522"/>
            <a:ext cx="711662" cy="650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1AE945-0AB7-C38F-5751-046295530F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259" y="55983"/>
            <a:ext cx="640499" cy="62524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1E96DBA-87E3-4331-981B-099305E6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655" y="6492875"/>
            <a:ext cx="2511415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E0D2-915B-23AB-7DB8-9D0C383C3ED8}"/>
              </a:ext>
            </a:extLst>
          </p:cNvPr>
          <p:cNvSpPr txBox="1"/>
          <p:nvPr userDrawn="1"/>
        </p:nvSpPr>
        <p:spPr>
          <a:xfrm>
            <a:off x="2064039" y="79325"/>
            <a:ext cx="8130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NGUYỄN TẤT THÀNH</a:t>
            </a:r>
            <a:b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53FEA-5436-A573-C969-0C86362834EE}"/>
              </a:ext>
            </a:extLst>
          </p:cNvPr>
          <p:cNvSpPr txBox="1"/>
          <p:nvPr userDrawn="1"/>
        </p:nvSpPr>
        <p:spPr>
          <a:xfrm>
            <a:off x="5763602" y="3810109"/>
            <a:ext cx="486745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 TÊN SINH VIÊN</a:t>
            </a:r>
          </a:p>
          <a:p>
            <a:pPr algn="l">
              <a:lnSpc>
                <a:spcPct val="150000"/>
              </a:lnSpc>
            </a:pPr>
            <a:endParaRPr lang="en-US" sz="18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 VIÊN HƯỚNG DẪN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NGÀNH: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KHÓA: </a:t>
            </a:r>
          </a:p>
          <a:p>
            <a:pPr algn="l">
              <a:lnSpc>
                <a:spcPct val="150000"/>
              </a:lnSpc>
            </a:pPr>
            <a:endParaRPr lang="en-US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B0E15-F0E6-1FCB-FB67-4EDA52F14578}"/>
              </a:ext>
            </a:extLst>
          </p:cNvPr>
          <p:cNvSpPr txBox="1"/>
          <p:nvPr userDrawn="1"/>
        </p:nvSpPr>
        <p:spPr>
          <a:xfrm>
            <a:off x="-202386" y="1791361"/>
            <a:ext cx="12116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 ĐỀ TÀI</a:t>
            </a:r>
          </a:p>
        </p:txBody>
      </p:sp>
    </p:spTree>
    <p:extLst>
      <p:ext uri="{BB962C8B-B14F-4D97-AF65-F5344CB8AC3E}">
        <p14:creationId xmlns:p14="http://schemas.microsoft.com/office/powerpoint/2010/main" val="71110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AFDC-C8FF-2A74-E8B5-684EB7982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473" y="55983"/>
            <a:ext cx="10946937" cy="6252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NỘI DUNG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C3CC2-71D2-AB2C-B637-D8670ACF8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F97CC-A2F3-2B10-7C1B-CD30145F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4721" y="6520234"/>
            <a:ext cx="3194906" cy="293771"/>
          </a:xfrm>
        </p:spPr>
        <p:txBody>
          <a:bodyPr/>
          <a:lstStyle/>
          <a:p>
            <a:r>
              <a:rPr lang="en-US"/>
              <a:t>Tên đề tài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0133C-ACDF-B21D-893C-CED9B19713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2484" y="35522"/>
            <a:ext cx="711662" cy="650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73C8A1-6E3F-26FF-ED02-080009BA1E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59" y="55983"/>
            <a:ext cx="640499" cy="62524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C97F58-72E8-3522-8002-E58013B9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59" y="904577"/>
            <a:ext cx="11969784" cy="54123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 sz="22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7461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1384"/>
            <a:ext cx="11008580" cy="554781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69" y="974035"/>
            <a:ext cx="11986591" cy="5327374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400" b="1"/>
            </a:lvl1pPr>
            <a:lvl2pPr marL="457200" indent="-257175">
              <a:buFont typeface="Symbol" panose="05050102010706020507" pitchFamily="18" charset="2"/>
              <a:buChar char=""/>
              <a:defRPr sz="2200"/>
            </a:lvl2pPr>
            <a:lvl3pPr marL="685800" indent="-168275">
              <a:buFont typeface="Symbol" panose="05050102010706020507" pitchFamily="18" charset="2"/>
              <a:buChar char=""/>
              <a:defRPr sz="2000"/>
            </a:lvl3pPr>
            <a:lvl4pPr marL="566928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7766" y="6501758"/>
            <a:ext cx="1630730" cy="35624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8495" y="6499540"/>
            <a:ext cx="9352721" cy="35846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0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8F2B-B397-489E-60D2-C990781A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890F0-6C57-D91A-03E2-E8CF8A291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6B744-14B0-3A3C-8790-BFA506B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Tên đề 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64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0590" y="6492845"/>
            <a:ext cx="1699028" cy="36515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057400" y="6459785"/>
            <a:ext cx="6451589" cy="39821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2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41016" y="6448036"/>
            <a:ext cx="2254314" cy="32683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63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1076E0-2992-12BF-ADA7-F8F0C505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8495" y="6499540"/>
            <a:ext cx="9352721" cy="35846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32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0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331D0F-AB6C-4D77-44E4-ACAAF51752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0"/>
          <a:stretch/>
        </p:blipFill>
        <p:spPr>
          <a:xfrm>
            <a:off x="0" y="960122"/>
            <a:ext cx="12192000" cy="589787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-1"/>
            <a:ext cx="12188825" cy="96012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21A6AE-F892-89BF-8A38-E3F51B596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12483" y="35522"/>
            <a:ext cx="749675" cy="6855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A663AB-E409-3101-B223-693FF43AD8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259" y="55983"/>
            <a:ext cx="660360" cy="64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82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518" y="6597137"/>
            <a:ext cx="1699028" cy="2277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KHOA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77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15240" y="-13449"/>
            <a:ext cx="12192000" cy="74836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921" y="55983"/>
            <a:ext cx="11163489" cy="6252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259" y="904577"/>
            <a:ext cx="11969784" cy="54123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/>
              <a:t>Third </a:t>
            </a:r>
            <a:r>
              <a:rPr lang="en-US" dirty="0"/>
              <a:t>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9385" y="6492845"/>
            <a:ext cx="1312025" cy="2937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60"/>
                </a:solidFill>
              </a:defRPr>
            </a:lvl1pPr>
          </a:lstStyle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F6140D-0DC3-4D9B-413B-8B7F8D04C22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810049"/>
            <a:ext cx="12176760" cy="19389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BC10D-E0B0-D3DF-E7EE-E8E404E0E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1" y="6492844"/>
            <a:ext cx="3194906" cy="29377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1E3352"/>
                </a:solidFill>
              </a:defRPr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013E53-DC8F-D336-422B-91CB0A1A2D1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6259" y="55983"/>
            <a:ext cx="711662" cy="65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5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71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1" kern="1200" spc="-50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400" b="1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4068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‒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6948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+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jp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7" Type="http://schemas.openxmlformats.org/officeDocument/2006/relationships/image" Target="../media/image77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AE63B4-4B3B-8E96-BFFA-83A7DB33359D}"/>
              </a:ext>
            </a:extLst>
          </p:cNvPr>
          <p:cNvSpPr txBox="1"/>
          <p:nvPr/>
        </p:nvSpPr>
        <p:spPr>
          <a:xfrm>
            <a:off x="5766558" y="5122714"/>
            <a:ext cx="624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>
                <a:latin typeface="+mj-lt"/>
              </a:rPr>
              <a:t>TS. VÕ THỊ HỒNG THẮM</a:t>
            </a:r>
            <a:endParaRPr lang="en-US" sz="1800" b="1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28525-282B-A0FB-B371-3B61C5A0210A}"/>
              </a:ext>
            </a:extLst>
          </p:cNvPr>
          <p:cNvSpPr txBox="1"/>
          <p:nvPr/>
        </p:nvSpPr>
        <p:spPr>
          <a:xfrm>
            <a:off x="6754762" y="5431229"/>
            <a:ext cx="3456038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t>CÔNG NGHỆ THÔNG TIN</a:t>
            </a:r>
            <a:endParaRPr lang="en-US" sz="2000" b="1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4F7A-CE2C-52FA-EB10-AE089D57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0435" y="6458591"/>
            <a:ext cx="4181292" cy="399409"/>
          </a:xfrm>
        </p:spPr>
        <p:txBody>
          <a:bodyPr/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TP. HỒ CHÍ MÌNH, </a:t>
            </a:r>
            <a:r>
              <a:rPr lang="en-US" b="1">
                <a:latin typeface="+mj-lt"/>
                <a:cs typeface="Arial" panose="020B0604020202020204" pitchFamily="34" charset="0"/>
              </a:rPr>
              <a:t>NGÀY  THÁNG </a:t>
            </a:r>
            <a:r>
              <a:rPr lang="vi-VN" b="1">
                <a:latin typeface="+mj-lt"/>
                <a:cs typeface="Arial" panose="020B0604020202020204" pitchFamily="34" charset="0"/>
              </a:rPr>
              <a:t> 01</a:t>
            </a:r>
            <a:r>
              <a:rPr lang="vi-VN">
                <a:latin typeface="+mj-lt"/>
              </a:rPr>
              <a:t> </a:t>
            </a:r>
            <a:r>
              <a:rPr lang="en-US" b="1">
                <a:latin typeface="+mj-lt"/>
                <a:cs typeface="Arial" panose="020B0604020202020204" pitchFamily="34" charset="0"/>
              </a:rPr>
              <a:t>NĂM </a:t>
            </a:r>
            <a:r>
              <a:rPr lang="vi-VN" b="1">
                <a:latin typeface="+mj-lt"/>
                <a:cs typeface="Arial" panose="020B0604020202020204" pitchFamily="34" charset="0"/>
              </a:rPr>
              <a:t>2026</a:t>
            </a:r>
            <a:endParaRPr lang="en-US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ADC39B-8E6E-B0B5-34DB-7F054B2964BF}"/>
              </a:ext>
            </a:extLst>
          </p:cNvPr>
          <p:cNvSpPr txBox="1"/>
          <p:nvPr/>
        </p:nvSpPr>
        <p:spPr>
          <a:xfrm>
            <a:off x="587707" y="2474893"/>
            <a:ext cx="110829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800" b="1">
                <a:latin typeface="+mj-lt"/>
              </a:rPr>
              <a:t>XÂY DỰNG MÔ HÌNH DỰ ĐOÁN THỜI TIẾT NGẮN HẠN </a:t>
            </a:r>
          </a:p>
          <a:p>
            <a:pPr algn="ctr"/>
            <a:r>
              <a:rPr lang="vi-VN" sz="2800" b="1">
                <a:latin typeface="+mj-lt"/>
              </a:rPr>
              <a:t>DỰA TRÊN DỮ LIỆU KHÍ TƯỢNG</a:t>
            </a:r>
            <a:endParaRPr lang="en-US" sz="280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6BACB-CBF1-50EB-51A5-646F67D30A99}"/>
              </a:ext>
            </a:extLst>
          </p:cNvPr>
          <p:cNvSpPr txBox="1"/>
          <p:nvPr/>
        </p:nvSpPr>
        <p:spPr>
          <a:xfrm>
            <a:off x="5766558" y="4220956"/>
            <a:ext cx="6169803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t>LÊ CHÍ KHA</a:t>
            </a:r>
            <a:endParaRPr lang="en-US" sz="2000" b="1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14EBC-100C-4055-17E0-A2A5B4778A30}"/>
              </a:ext>
            </a:extLst>
          </p:cNvPr>
          <p:cNvSpPr txBox="1"/>
          <p:nvPr/>
        </p:nvSpPr>
        <p:spPr>
          <a:xfrm>
            <a:off x="6754762" y="5835991"/>
            <a:ext cx="3018503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t>2022 - 2026</a:t>
            </a:r>
            <a:endParaRPr lang="en-US" sz="2000" b="1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6FC42-2887-3F8C-D689-B72D3807789B}"/>
              </a:ext>
            </a:extLst>
          </p:cNvPr>
          <p:cNvSpPr txBox="1"/>
          <p:nvPr/>
        </p:nvSpPr>
        <p:spPr>
          <a:xfrm>
            <a:off x="0" y="794183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BÁO CÁO TẠI HỘI ĐỒNG </a:t>
            </a:r>
            <a:b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 </a:t>
            </a:r>
            <a:r>
              <a:rPr 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 </a:t>
            </a:r>
            <a:r>
              <a:rPr lang="vi-VN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THỰC TẬP </a:t>
            </a:r>
            <a:r>
              <a:rPr 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</a:p>
        </p:txBody>
      </p:sp>
    </p:spTree>
    <p:extLst>
      <p:ext uri="{BB962C8B-B14F-4D97-AF65-F5344CB8AC3E}">
        <p14:creationId xmlns:p14="http://schemas.microsoft.com/office/powerpoint/2010/main" val="106716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1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1DF0-C463-1148-EE94-3338F312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A554C6-9FA7-CE1E-A05A-266D8EB3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E172D-A0D6-7A96-7528-19F7D3CA3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2</a:t>
            </a:fld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DBCE08-9663-AFDD-5F31-CF052A098178}"/>
              </a:ext>
            </a:extLst>
          </p:cNvPr>
          <p:cNvSpPr txBox="1"/>
          <p:nvPr/>
        </p:nvSpPr>
        <p:spPr>
          <a:xfrm>
            <a:off x="3200400" y="3060324"/>
            <a:ext cx="764032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vi-VN" sz="6000" b="1" i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BƯỚC</a:t>
            </a:r>
            <a:endParaRPr lang="en-US" sz="6000" b="1" i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F717E7-2BA5-77A3-B312-58A56D974102}"/>
              </a:ext>
            </a:extLst>
          </p:cNvPr>
          <p:cNvSpPr txBox="1"/>
          <p:nvPr/>
        </p:nvSpPr>
        <p:spPr>
          <a:xfrm>
            <a:off x="4614333" y="3512241"/>
            <a:ext cx="3972560" cy="101566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vi-VN" sz="6000" b="1" i="1">
                <a:solidFill>
                  <a:schemeClr val="bg2">
                    <a:lumMod val="90000"/>
                  </a:schemeClr>
                </a:solidFill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THỰC HIỆN</a:t>
            </a:r>
            <a:endParaRPr lang="en-US" sz="6000" b="1" i="1">
              <a:solidFill>
                <a:schemeClr val="bg2">
                  <a:lumMod val="90000"/>
                </a:schemeClr>
              </a:solidFill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88C55E-2F6A-2177-FF6E-7DAD293C24FA}"/>
              </a:ext>
            </a:extLst>
          </p:cNvPr>
          <p:cNvGrpSpPr/>
          <p:nvPr/>
        </p:nvGrpSpPr>
        <p:grpSpPr>
          <a:xfrm>
            <a:off x="465666" y="739136"/>
            <a:ext cx="3471334" cy="6118861"/>
            <a:chOff x="575732" y="739136"/>
            <a:chExt cx="3471334" cy="61188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6AE68D1-C25F-48BC-AFE9-A806A997DEFD}"/>
                </a:ext>
              </a:extLst>
            </p:cNvPr>
            <p:cNvGrpSpPr/>
            <p:nvPr/>
          </p:nvGrpSpPr>
          <p:grpSpPr>
            <a:xfrm>
              <a:off x="575732" y="739136"/>
              <a:ext cx="3048000" cy="6118861"/>
              <a:chOff x="9144000" y="739141"/>
              <a:chExt cx="3048000" cy="611885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C30506-4BDC-A8CC-A25E-7EC8B4CD4309}"/>
                  </a:ext>
                </a:extLst>
              </p:cNvPr>
              <p:cNvSpPr/>
              <p:nvPr/>
            </p:nvSpPr>
            <p:spPr>
              <a:xfrm>
                <a:off x="9144000" y="739141"/>
                <a:ext cx="3048000" cy="6118859"/>
              </a:xfrm>
              <a:prstGeom prst="rect">
                <a:avLst/>
              </a:prstGeom>
              <a:solidFill>
                <a:srgbClr val="0B66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1A7951-8D2B-409D-71A1-6E8EEE67E135}"/>
                  </a:ext>
                </a:extLst>
              </p:cNvPr>
              <p:cNvSpPr txBox="1"/>
              <p:nvPr/>
            </p:nvSpPr>
            <p:spPr>
              <a:xfrm>
                <a:off x="9990667" y="1290574"/>
                <a:ext cx="135466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0000" b="1">
                    <a:latin typeface="+mj-lt"/>
                  </a:rPr>
                  <a:t>4</a:t>
                </a:r>
                <a:endParaRPr lang="en-US" sz="10000" b="1">
                  <a:latin typeface="+mj-lt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593D30-8C6D-DC19-08D8-443A2631E9AB}"/>
                  </a:ext>
                </a:extLst>
              </p:cNvPr>
              <p:cNvSpPr txBox="1"/>
              <p:nvPr/>
            </p:nvSpPr>
            <p:spPr>
              <a:xfrm>
                <a:off x="9144000" y="3289880"/>
                <a:ext cx="295768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 LUẬN VÀ KIẾN NGHỊ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/>
              </a:p>
            </p:txBody>
          </p:sp>
          <p:pic>
            <p:nvPicPr>
              <p:cNvPr id="15" name="Graphic 14" descr="Medal with solid fill">
                <a:extLst>
                  <a:ext uri="{FF2B5EF4-FFF2-40B4-BE49-F238E27FC236}">
                    <a16:creationId xmlns:a16="http://schemas.microsoft.com/office/drawing/2014/main" id="{58F5939C-BCD3-B8A0-2AC9-B75D6F972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205884" y="5138082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DCD19E58-C9DB-E43A-D948-C1DEBF08DEA8}"/>
                </a:ext>
              </a:extLst>
            </p:cNvPr>
            <p:cNvSpPr/>
            <p:nvPr/>
          </p:nvSpPr>
          <p:spPr>
            <a:xfrm rot="5400000">
              <a:off x="3578577" y="1323561"/>
              <a:ext cx="496711" cy="440267"/>
            </a:xfrm>
            <a:prstGeom prst="triangle">
              <a:avLst/>
            </a:prstGeom>
            <a:solidFill>
              <a:srgbClr val="0B66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119FE9-86F9-0F68-3ECF-03C2C67EA460}"/>
              </a:ext>
            </a:extLst>
          </p:cNvPr>
          <p:cNvGrpSpPr/>
          <p:nvPr/>
        </p:nvGrpSpPr>
        <p:grpSpPr>
          <a:xfrm>
            <a:off x="338666" y="739139"/>
            <a:ext cx="3488267" cy="6118859"/>
            <a:chOff x="6096000" y="739141"/>
            <a:chExt cx="3488267" cy="611885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51393A-BA7D-10E3-0178-539D151D2FBF}"/>
                </a:ext>
              </a:extLst>
            </p:cNvPr>
            <p:cNvSpPr/>
            <p:nvPr/>
          </p:nvSpPr>
          <p:spPr>
            <a:xfrm>
              <a:off x="6096000" y="739141"/>
              <a:ext cx="3048000" cy="6118859"/>
            </a:xfrm>
            <a:prstGeom prst="rect">
              <a:avLst/>
            </a:prstGeom>
            <a:solidFill>
              <a:srgbClr val="0E8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821E3E3-2217-404C-476F-CC3BC208AE1A}"/>
                </a:ext>
              </a:extLst>
            </p:cNvPr>
            <p:cNvSpPr/>
            <p:nvPr/>
          </p:nvSpPr>
          <p:spPr>
            <a:xfrm rot="5400000">
              <a:off x="9115778" y="1318796"/>
              <a:ext cx="496711" cy="440267"/>
            </a:xfrm>
            <a:prstGeom prst="triangle">
              <a:avLst/>
            </a:prstGeom>
            <a:solidFill>
              <a:srgbClr val="0E8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B1C372-319D-4143-CA96-964CC7F934AA}"/>
                </a:ext>
              </a:extLst>
            </p:cNvPr>
            <p:cNvSpPr txBox="1"/>
            <p:nvPr/>
          </p:nvSpPr>
          <p:spPr>
            <a:xfrm>
              <a:off x="6940415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3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9856BE3-2538-D7D5-C18C-A4B4D3B475CA}"/>
                </a:ext>
              </a:extLst>
            </p:cNvPr>
            <p:cNvSpPr txBox="1"/>
            <p:nvPr/>
          </p:nvSpPr>
          <p:spPr>
            <a:xfrm>
              <a:off x="6096000" y="3290738"/>
              <a:ext cx="30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 HÌNH THỰC NGHIỆM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" name="Graphic 20" descr="Scientist male with solid fill">
              <a:extLst>
                <a:ext uri="{FF2B5EF4-FFF2-40B4-BE49-F238E27FC236}">
                  <a16:creationId xmlns:a16="http://schemas.microsoft.com/office/drawing/2014/main" id="{C9B4A5C4-3BC4-F5BA-ABC2-A9DD1B352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2800" y="51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114546-B13A-C9F5-598B-A8BCE20AD1FF}"/>
              </a:ext>
            </a:extLst>
          </p:cNvPr>
          <p:cNvGrpSpPr/>
          <p:nvPr/>
        </p:nvGrpSpPr>
        <p:grpSpPr>
          <a:xfrm>
            <a:off x="186266" y="739140"/>
            <a:ext cx="3488267" cy="6118860"/>
            <a:chOff x="3048000" y="739140"/>
            <a:chExt cx="3488267" cy="61188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234AF7-DF34-2EF3-1B87-B8C35181BB5E}"/>
                </a:ext>
              </a:extLst>
            </p:cNvPr>
            <p:cNvSpPr/>
            <p:nvPr/>
          </p:nvSpPr>
          <p:spPr>
            <a:xfrm>
              <a:off x="3048000" y="739140"/>
              <a:ext cx="3048000" cy="6118860"/>
            </a:xfrm>
            <a:prstGeom prst="rect">
              <a:avLst/>
            </a:prstGeom>
            <a:solidFill>
              <a:srgbClr val="3BA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9A56FF1-7FDB-A359-D691-698701AA70E1}"/>
                </a:ext>
              </a:extLst>
            </p:cNvPr>
            <p:cNvSpPr/>
            <p:nvPr/>
          </p:nvSpPr>
          <p:spPr>
            <a:xfrm rot="5400000">
              <a:off x="6067778" y="1318796"/>
              <a:ext cx="496711" cy="440267"/>
            </a:xfrm>
            <a:prstGeom prst="triangle">
              <a:avLst/>
            </a:prstGeom>
            <a:solidFill>
              <a:srgbClr val="3BA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064B3B-BD4E-D017-9C18-0F2BE62A24F7}"/>
                </a:ext>
              </a:extLst>
            </p:cNvPr>
            <p:cNvSpPr txBox="1"/>
            <p:nvPr/>
          </p:nvSpPr>
          <p:spPr>
            <a:xfrm>
              <a:off x="3896919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2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0C31F0-71C9-CFA4-4670-475F196BCB09}"/>
                </a:ext>
              </a:extLst>
            </p:cNvPr>
            <p:cNvSpPr txBox="1"/>
            <p:nvPr/>
          </p:nvSpPr>
          <p:spPr>
            <a:xfrm>
              <a:off x="3200400" y="3290738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 HÌNH </a:t>
              </a:r>
              <a:endParaRPr lang="vi-VN" sz="3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 THUYẾT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Graphic 26" descr="Single gear with solid fill">
              <a:extLst>
                <a:ext uri="{FF2B5EF4-FFF2-40B4-BE49-F238E27FC236}">
                  <a16:creationId xmlns:a16="http://schemas.microsoft.com/office/drawing/2014/main" id="{69917DF5-DFF0-FA4F-1DC5-FF801B64C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4800" y="51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A4AB6AA-B303-201A-FE5F-402D465A32C6}"/>
              </a:ext>
            </a:extLst>
          </p:cNvPr>
          <p:cNvGrpSpPr/>
          <p:nvPr/>
        </p:nvGrpSpPr>
        <p:grpSpPr>
          <a:xfrm>
            <a:off x="0" y="739141"/>
            <a:ext cx="3488267" cy="6118859"/>
            <a:chOff x="0" y="739141"/>
            <a:chExt cx="3488267" cy="611885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5DACCF8-3052-3267-0351-BC95828B0D41}"/>
                </a:ext>
              </a:extLst>
            </p:cNvPr>
            <p:cNvSpPr/>
            <p:nvPr/>
          </p:nvSpPr>
          <p:spPr>
            <a:xfrm>
              <a:off x="0" y="739141"/>
              <a:ext cx="3048000" cy="6118859"/>
            </a:xfrm>
            <a:prstGeom prst="rect">
              <a:avLst/>
            </a:prstGeom>
            <a:solidFill>
              <a:srgbClr val="7DC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546EEBD3-3648-0E7E-297B-01C75EAA2345}"/>
                </a:ext>
              </a:extLst>
            </p:cNvPr>
            <p:cNvSpPr/>
            <p:nvPr/>
          </p:nvSpPr>
          <p:spPr>
            <a:xfrm rot="5400000">
              <a:off x="3019778" y="1318796"/>
              <a:ext cx="496711" cy="440267"/>
            </a:xfrm>
            <a:prstGeom prst="triangle">
              <a:avLst/>
            </a:prstGeom>
            <a:solidFill>
              <a:srgbClr val="7DC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9BB5ED6-FDB4-830D-D0FD-28B7C79934E6}"/>
                </a:ext>
              </a:extLst>
            </p:cNvPr>
            <p:cNvSpPr txBox="1"/>
            <p:nvPr/>
          </p:nvSpPr>
          <p:spPr>
            <a:xfrm>
              <a:off x="846667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1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321567-BFC5-3F02-F193-279A7A9985BA}"/>
                </a:ext>
              </a:extLst>
            </p:cNvPr>
            <p:cNvSpPr txBox="1"/>
            <p:nvPr/>
          </p:nvSpPr>
          <p:spPr>
            <a:xfrm>
              <a:off x="0" y="3316901"/>
              <a:ext cx="30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 </a:t>
              </a:r>
              <a:r>
                <a:rPr lang="vi-VN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TẬP </a:t>
              </a:r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vi-VN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 LUẬN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Graphic 33" descr="Storytelling with solid fill">
              <a:extLst>
                <a:ext uri="{FF2B5EF4-FFF2-40B4-BE49-F238E27FC236}">
                  <a16:creationId xmlns:a16="http://schemas.microsoft.com/office/drawing/2014/main" id="{CBF939EF-7547-F2B4-AC99-44D361255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6800" y="51380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3645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C038-F303-7013-0389-F9A3E985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7479554-3771-EF37-F8CC-44140962163A}"/>
              </a:ext>
            </a:extLst>
          </p:cNvPr>
          <p:cNvGrpSpPr/>
          <p:nvPr/>
        </p:nvGrpSpPr>
        <p:grpSpPr>
          <a:xfrm>
            <a:off x="9144000" y="739141"/>
            <a:ext cx="3488267" cy="6118859"/>
            <a:chOff x="9144000" y="739141"/>
            <a:chExt cx="3488267" cy="6118859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70350A-B97C-2020-611A-82B1073C1D54}"/>
                </a:ext>
              </a:extLst>
            </p:cNvPr>
            <p:cNvGrpSpPr/>
            <p:nvPr/>
          </p:nvGrpSpPr>
          <p:grpSpPr>
            <a:xfrm>
              <a:off x="9144000" y="739141"/>
              <a:ext cx="3048000" cy="6118859"/>
              <a:chOff x="9144000" y="739141"/>
              <a:chExt cx="3048000" cy="611885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937446-1EBD-722D-8456-FC0D98FBCCA9}"/>
                  </a:ext>
                </a:extLst>
              </p:cNvPr>
              <p:cNvSpPr/>
              <p:nvPr/>
            </p:nvSpPr>
            <p:spPr>
              <a:xfrm>
                <a:off x="9144000" y="739141"/>
                <a:ext cx="3048000" cy="6118859"/>
              </a:xfrm>
              <a:prstGeom prst="rect">
                <a:avLst/>
              </a:prstGeom>
              <a:solidFill>
                <a:srgbClr val="0B66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17FBC2-5412-830E-0306-586DAE9D730B}"/>
                  </a:ext>
                </a:extLst>
              </p:cNvPr>
              <p:cNvSpPr txBox="1"/>
              <p:nvPr/>
            </p:nvSpPr>
            <p:spPr>
              <a:xfrm>
                <a:off x="9990667" y="1290574"/>
                <a:ext cx="135466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0000" b="1">
                    <a:latin typeface="+mj-lt"/>
                  </a:rPr>
                  <a:t>4</a:t>
                </a:r>
                <a:endParaRPr lang="en-US" sz="10000" b="1">
                  <a:latin typeface="+mj-lt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116CAB-6902-F99D-AF42-8CECA9D9C861}"/>
                  </a:ext>
                </a:extLst>
              </p:cNvPr>
              <p:cNvSpPr txBox="1"/>
              <p:nvPr/>
            </p:nvSpPr>
            <p:spPr>
              <a:xfrm>
                <a:off x="9144000" y="3289880"/>
                <a:ext cx="295768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 LUẬN VÀ KIẾN NGHỊ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/>
              </a:p>
            </p:txBody>
          </p:sp>
          <p:pic>
            <p:nvPicPr>
              <p:cNvPr id="48" name="Graphic 47" descr="Medal with solid fill">
                <a:extLst>
                  <a:ext uri="{FF2B5EF4-FFF2-40B4-BE49-F238E27FC236}">
                    <a16:creationId xmlns:a16="http://schemas.microsoft.com/office/drawing/2014/main" id="{F9AFEAD3-0D56-1739-2682-685BB510A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205884" y="5138082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0D8AD31E-BDD9-D5A1-ECB9-A6BB38692537}"/>
                </a:ext>
              </a:extLst>
            </p:cNvPr>
            <p:cNvSpPr/>
            <p:nvPr/>
          </p:nvSpPr>
          <p:spPr>
            <a:xfrm rot="5400000">
              <a:off x="12163778" y="1318796"/>
              <a:ext cx="496711" cy="440267"/>
            </a:xfrm>
            <a:prstGeom prst="triangle">
              <a:avLst/>
            </a:prstGeom>
            <a:solidFill>
              <a:srgbClr val="0B66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D31D160-EAF7-E6FF-26CA-0FA412821B4B}"/>
              </a:ext>
            </a:extLst>
          </p:cNvPr>
          <p:cNvGrpSpPr/>
          <p:nvPr/>
        </p:nvGrpSpPr>
        <p:grpSpPr>
          <a:xfrm>
            <a:off x="6096000" y="739141"/>
            <a:ext cx="3488267" cy="6118859"/>
            <a:chOff x="6096000" y="739141"/>
            <a:chExt cx="3488267" cy="61188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79D699-08C3-A7B0-DA9A-496C3FDA749B}"/>
                </a:ext>
              </a:extLst>
            </p:cNvPr>
            <p:cNvSpPr/>
            <p:nvPr/>
          </p:nvSpPr>
          <p:spPr>
            <a:xfrm>
              <a:off x="6096000" y="739141"/>
              <a:ext cx="3048000" cy="6118859"/>
            </a:xfrm>
            <a:prstGeom prst="rect">
              <a:avLst/>
            </a:prstGeom>
            <a:solidFill>
              <a:srgbClr val="0E8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BD462B4E-D117-53E1-FF65-474140CFB62C}"/>
                </a:ext>
              </a:extLst>
            </p:cNvPr>
            <p:cNvSpPr/>
            <p:nvPr/>
          </p:nvSpPr>
          <p:spPr>
            <a:xfrm rot="5400000">
              <a:off x="9115778" y="1318796"/>
              <a:ext cx="496711" cy="440267"/>
            </a:xfrm>
            <a:prstGeom prst="triangle">
              <a:avLst/>
            </a:prstGeom>
            <a:solidFill>
              <a:srgbClr val="0E8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F8F471-5593-6FCF-29CE-E0348D597E93}"/>
                </a:ext>
              </a:extLst>
            </p:cNvPr>
            <p:cNvSpPr txBox="1"/>
            <p:nvPr/>
          </p:nvSpPr>
          <p:spPr>
            <a:xfrm>
              <a:off x="6940415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3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0EAD69-B8F0-7379-E875-AD6A004EF72C}"/>
                </a:ext>
              </a:extLst>
            </p:cNvPr>
            <p:cNvSpPr txBox="1"/>
            <p:nvPr/>
          </p:nvSpPr>
          <p:spPr>
            <a:xfrm>
              <a:off x="6096000" y="3290738"/>
              <a:ext cx="30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 HÌNH THỰC NGHIỆM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9" name="Graphic 48" descr="Scientist male with solid fill">
              <a:extLst>
                <a:ext uri="{FF2B5EF4-FFF2-40B4-BE49-F238E27FC236}">
                  <a16:creationId xmlns:a16="http://schemas.microsoft.com/office/drawing/2014/main" id="{B20D7C5C-3B12-C07F-4950-AFEF6ADFD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2800" y="51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E0C4730-1A3F-80F9-3E8D-E7227D56D8F2}"/>
              </a:ext>
            </a:extLst>
          </p:cNvPr>
          <p:cNvGrpSpPr/>
          <p:nvPr/>
        </p:nvGrpSpPr>
        <p:grpSpPr>
          <a:xfrm>
            <a:off x="3048000" y="739140"/>
            <a:ext cx="3488267" cy="6118860"/>
            <a:chOff x="3048000" y="739140"/>
            <a:chExt cx="3488267" cy="61188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C9AB2D-E47D-70F0-861F-BF40FC2D8A84}"/>
                </a:ext>
              </a:extLst>
            </p:cNvPr>
            <p:cNvSpPr/>
            <p:nvPr/>
          </p:nvSpPr>
          <p:spPr>
            <a:xfrm>
              <a:off x="3048000" y="739140"/>
              <a:ext cx="3048000" cy="6118860"/>
            </a:xfrm>
            <a:prstGeom prst="rect">
              <a:avLst/>
            </a:prstGeom>
            <a:solidFill>
              <a:srgbClr val="3BA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0D3610F-FFC8-5814-14F6-3FB4E39C2DE0}"/>
                </a:ext>
              </a:extLst>
            </p:cNvPr>
            <p:cNvSpPr/>
            <p:nvPr/>
          </p:nvSpPr>
          <p:spPr>
            <a:xfrm rot="5400000">
              <a:off x="6067778" y="1318796"/>
              <a:ext cx="496711" cy="440267"/>
            </a:xfrm>
            <a:prstGeom prst="triangle">
              <a:avLst/>
            </a:prstGeom>
            <a:solidFill>
              <a:srgbClr val="3BA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4289C3-3C80-E332-EB20-FB3DAA121B3E}"/>
                </a:ext>
              </a:extLst>
            </p:cNvPr>
            <p:cNvSpPr txBox="1"/>
            <p:nvPr/>
          </p:nvSpPr>
          <p:spPr>
            <a:xfrm>
              <a:off x="3896919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2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EB27DD-9E87-C274-0E4C-B07270FD0420}"/>
                </a:ext>
              </a:extLst>
            </p:cNvPr>
            <p:cNvSpPr txBox="1"/>
            <p:nvPr/>
          </p:nvSpPr>
          <p:spPr>
            <a:xfrm>
              <a:off x="3200400" y="3290738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 HÌNH </a:t>
              </a:r>
              <a:endParaRPr lang="vi-VN" sz="3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 THUYẾT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Graphic 49" descr="Single gear with solid fill">
              <a:extLst>
                <a:ext uri="{FF2B5EF4-FFF2-40B4-BE49-F238E27FC236}">
                  <a16:creationId xmlns:a16="http://schemas.microsoft.com/office/drawing/2014/main" id="{3B4863D0-DC99-E308-D93C-6946B25A2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4800" y="5138082"/>
              <a:ext cx="914400" cy="914400"/>
            </a:xfrm>
            <a:prstGeom prst="rect">
              <a:avLst/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04C2F907-3FD2-8811-D14F-876FEF76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5DC57-F1F9-B297-E096-7DB51586B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A48CE3-EBF2-0AF7-D33F-39623BB02028}"/>
              </a:ext>
            </a:extLst>
          </p:cNvPr>
          <p:cNvGrpSpPr/>
          <p:nvPr/>
        </p:nvGrpSpPr>
        <p:grpSpPr>
          <a:xfrm>
            <a:off x="0" y="739141"/>
            <a:ext cx="3488267" cy="6118859"/>
            <a:chOff x="0" y="739141"/>
            <a:chExt cx="3488267" cy="61188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40C2909-05F7-F653-C194-8ACA54E20387}"/>
                </a:ext>
              </a:extLst>
            </p:cNvPr>
            <p:cNvSpPr/>
            <p:nvPr/>
          </p:nvSpPr>
          <p:spPr>
            <a:xfrm>
              <a:off x="0" y="739141"/>
              <a:ext cx="3048000" cy="6118859"/>
            </a:xfrm>
            <a:prstGeom prst="rect">
              <a:avLst/>
            </a:prstGeom>
            <a:solidFill>
              <a:srgbClr val="7DC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5AD58E88-F09A-35C6-AD8B-48CD2C307DDE}"/>
                </a:ext>
              </a:extLst>
            </p:cNvPr>
            <p:cNvSpPr/>
            <p:nvPr/>
          </p:nvSpPr>
          <p:spPr>
            <a:xfrm rot="5400000">
              <a:off x="3019778" y="1318796"/>
              <a:ext cx="496711" cy="440267"/>
            </a:xfrm>
            <a:prstGeom prst="triangle">
              <a:avLst/>
            </a:prstGeom>
            <a:solidFill>
              <a:srgbClr val="7DC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20A83D-1BCB-D613-4AE7-5295D24EF7C7}"/>
                </a:ext>
              </a:extLst>
            </p:cNvPr>
            <p:cNvSpPr txBox="1"/>
            <p:nvPr/>
          </p:nvSpPr>
          <p:spPr>
            <a:xfrm>
              <a:off x="846667" y="1290574"/>
              <a:ext cx="135466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0000" b="1">
                  <a:latin typeface="+mj-lt"/>
                </a:rPr>
                <a:t>1</a:t>
              </a:r>
              <a:endParaRPr lang="en-US" sz="10000" b="1"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168775-BBB9-7B23-1DC0-8A82350A6A9A}"/>
                </a:ext>
              </a:extLst>
            </p:cNvPr>
            <p:cNvSpPr txBox="1"/>
            <p:nvPr/>
          </p:nvSpPr>
          <p:spPr>
            <a:xfrm>
              <a:off x="0" y="3316901"/>
              <a:ext cx="30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 </a:t>
              </a:r>
              <a:r>
                <a:rPr lang="vi-VN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TẬP </a:t>
              </a:r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vi-VN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 LUẬN</a:t>
              </a:r>
              <a:endParaRPr lang="en-US"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1" name="Graphic 50" descr="Storytelling with solid fill">
              <a:extLst>
                <a:ext uri="{FF2B5EF4-FFF2-40B4-BE49-F238E27FC236}">
                  <a16:creationId xmlns:a16="http://schemas.microsoft.com/office/drawing/2014/main" id="{0637D62F-F171-4A75-8486-E76EA5044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6800" y="51380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503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623FD-0017-32BC-56A3-BEE5A10D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F57A2BC8-6054-9E7E-892B-4432E674C3AD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594017FF-1124-EB80-AE32-B8E53F3CA854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49126FC6-BA0A-AA86-F042-1EDEB6705559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C512AE1E-C7BD-56A7-E73A-9011400CD30B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7CB6AE78-2569-6138-8D86-CAF8A09FB56E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AB56726-DA63-26BE-FAD2-3DD70F26CDF8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E94CC20-E4E5-65D4-3DD6-994AB18FA304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1D747E9-3F39-0CDD-0DF7-7D8F7125BB38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96C7CF-A9A1-04E3-91A2-ACB7B557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3C634-9959-10F4-2411-B18C2E366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88356A2-C56E-DDC3-5370-2719E45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9DECBA5-0364-7B8E-A4A5-274A2FC2B82C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2937D62-3E86-F5AA-AF7C-56BA1BC5ECEF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C8BE4FCC-447E-854B-6300-EE1A0892D410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5A338C1F-D275-25C1-23D6-E33212F69183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ABA3A944-A7D8-9B1E-2834-FB1403182584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93CB51D-2735-ECD6-91FB-61312DC496EA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BDFC7FF4-532B-7CD7-5D15-483F466D8FB6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6EC4CB3-1AFA-BA58-7C41-4D698057AAEF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351D8FE-9996-0469-A757-579EC11D1EEC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B5C25F5-B609-F82B-E01A-EC563ECF3D7B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BC49812-CC53-9A18-4623-8AD63027FE7E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DDC2659-B477-347A-7FBB-6BECA9147D71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D8FAA04-7120-E3A7-1C5E-4A64A16CA690}"/>
              </a:ext>
            </a:extLst>
          </p:cNvPr>
          <p:cNvSpPr/>
          <p:nvPr/>
        </p:nvSpPr>
        <p:spPr>
          <a:xfrm rot="5400000">
            <a:off x="5671285" y="194975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176E90-4F35-194E-1650-1DDFF7143500}"/>
              </a:ext>
            </a:extLst>
          </p:cNvPr>
          <p:cNvSpPr txBox="1"/>
          <p:nvPr/>
        </p:nvSpPr>
        <p:spPr>
          <a:xfrm>
            <a:off x="5717006" y="205656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81B081B0-EE6A-AEEA-8836-F363CA9A59D3}"/>
              </a:ext>
            </a:extLst>
          </p:cNvPr>
          <p:cNvSpPr/>
          <p:nvPr/>
        </p:nvSpPr>
        <p:spPr>
          <a:xfrm rot="5400000">
            <a:off x="5383188" y="285883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0D4031-B653-4628-CB99-99A968264FD7}"/>
              </a:ext>
            </a:extLst>
          </p:cNvPr>
          <p:cNvSpPr txBox="1"/>
          <p:nvPr/>
        </p:nvSpPr>
        <p:spPr>
          <a:xfrm>
            <a:off x="5428909" y="296564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1670CF5E-E5EA-70EE-D8AB-4C1E98D29A0E}"/>
              </a:ext>
            </a:extLst>
          </p:cNvPr>
          <p:cNvSpPr/>
          <p:nvPr/>
        </p:nvSpPr>
        <p:spPr>
          <a:xfrm rot="5400000">
            <a:off x="4993937" y="3764844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B82868-0CA1-A8D4-A5AA-36453CD030B0}"/>
              </a:ext>
            </a:extLst>
          </p:cNvPr>
          <p:cNvSpPr txBox="1"/>
          <p:nvPr/>
        </p:nvSpPr>
        <p:spPr>
          <a:xfrm>
            <a:off x="5039658" y="3871649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857D20BB-17A7-D7CD-0C23-6F4EEC837742}"/>
              </a:ext>
            </a:extLst>
          </p:cNvPr>
          <p:cNvSpPr/>
          <p:nvPr/>
        </p:nvSpPr>
        <p:spPr>
          <a:xfrm rot="5400000">
            <a:off x="4604686" y="4670850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8879CE-C3BB-8B51-CE4E-DB9B2645C01A}"/>
              </a:ext>
            </a:extLst>
          </p:cNvPr>
          <p:cNvSpPr txBox="1"/>
          <p:nvPr/>
        </p:nvSpPr>
        <p:spPr>
          <a:xfrm>
            <a:off x="4650407" y="4777655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EF332AAE-1E70-F125-1BA3-B45B28A79782}"/>
              </a:ext>
            </a:extLst>
          </p:cNvPr>
          <p:cNvSpPr/>
          <p:nvPr/>
        </p:nvSpPr>
        <p:spPr>
          <a:xfrm rot="5400000">
            <a:off x="4170977" y="5576856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EEB5D2C-58C1-05AC-4B8E-08B6EFDC54BB}"/>
              </a:ext>
            </a:extLst>
          </p:cNvPr>
          <p:cNvSpPr txBox="1"/>
          <p:nvPr/>
        </p:nvSpPr>
        <p:spPr>
          <a:xfrm>
            <a:off x="4270054" y="5683661"/>
            <a:ext cx="3803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5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9FD7CB-919F-AEF1-11C2-649C7E1762EC}"/>
              </a:ext>
            </a:extLst>
          </p:cNvPr>
          <p:cNvSpPr txBox="1"/>
          <p:nvPr/>
        </p:nvSpPr>
        <p:spPr>
          <a:xfrm>
            <a:off x="4249462" y="-1579662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633B41-C57C-F51B-496F-88E9C3A269AC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143E75-088C-C44E-2B56-EEFEF6522D1F}"/>
              </a:ext>
            </a:extLst>
          </p:cNvPr>
          <p:cNvSpPr txBox="1"/>
          <p:nvPr/>
        </p:nvSpPr>
        <p:spPr>
          <a:xfrm>
            <a:off x="12747940" y="1018341"/>
            <a:ext cx="6188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THỰC </a:t>
            </a:r>
            <a:r>
              <a:rPr lang="vi-V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TẬP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LÝ LUẬN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F8F4BB08-E531-DF3A-505E-C015F71F5817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843D36-E2FA-EED0-125C-91C68A6F39DA}"/>
              </a:ext>
            </a:extLst>
          </p:cNvPr>
          <p:cNvSpPr txBox="1"/>
          <p:nvPr/>
        </p:nvSpPr>
        <p:spPr>
          <a:xfrm>
            <a:off x="14401478" y="2065840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Giới thiệu công ty phần mềm GNN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43342B0-C4E5-5593-F1E7-8E50BDF2A6FD}"/>
              </a:ext>
            </a:extLst>
          </p:cNvPr>
          <p:cNvCxnSpPr/>
          <p:nvPr/>
        </p:nvCxnSpPr>
        <p:spPr>
          <a:xfrm>
            <a:off x="6577566" y="25896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810CE84-A1BD-39EC-76E3-82B81D006BD6}"/>
              </a:ext>
            </a:extLst>
          </p:cNvPr>
          <p:cNvSpPr txBox="1"/>
          <p:nvPr/>
        </p:nvSpPr>
        <p:spPr>
          <a:xfrm>
            <a:off x="14073283" y="2967234"/>
            <a:ext cx="559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Vị trí &amp; nhiệm vụ thực tập</a:t>
            </a:r>
            <a:br>
              <a:rPr lang="vi-VN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B6B6F75-653B-49B3-1B74-CAFEC659D824}"/>
              </a:ext>
            </a:extLst>
          </p:cNvPr>
          <p:cNvCxnSpPr/>
          <p:nvPr/>
        </p:nvCxnSpPr>
        <p:spPr>
          <a:xfrm>
            <a:off x="6084586" y="35802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394ADE2-6893-4E24-D77B-E8972AE716D1}"/>
              </a:ext>
            </a:extLst>
          </p:cNvPr>
          <p:cNvSpPr txBox="1"/>
          <p:nvPr/>
        </p:nvSpPr>
        <p:spPr>
          <a:xfrm>
            <a:off x="13701181" y="387527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Lý do chọn đề tài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3D001AE-7353-4A5B-6539-1C469041A00C}"/>
              </a:ext>
            </a:extLst>
          </p:cNvPr>
          <p:cNvCxnSpPr/>
          <p:nvPr/>
        </p:nvCxnSpPr>
        <p:spPr>
          <a:xfrm>
            <a:off x="5866812" y="4399085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C3D2C3D-1D1F-27C2-A1FC-CC76D01E1FCE}"/>
              </a:ext>
            </a:extLst>
          </p:cNvPr>
          <p:cNvSpPr txBox="1"/>
          <p:nvPr/>
        </p:nvSpPr>
        <p:spPr>
          <a:xfrm>
            <a:off x="13354045" y="4789624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Mục tiêu đề tài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3A75B3B-F64A-4C64-E4FA-979C2B4D1A92}"/>
              </a:ext>
            </a:extLst>
          </p:cNvPr>
          <p:cNvCxnSpPr/>
          <p:nvPr/>
        </p:nvCxnSpPr>
        <p:spPr>
          <a:xfrm>
            <a:off x="5530133" y="5313434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F6452B8-5489-626E-AC37-1CF2714427C9}"/>
              </a:ext>
            </a:extLst>
          </p:cNvPr>
          <p:cNvSpPr txBox="1"/>
          <p:nvPr/>
        </p:nvSpPr>
        <p:spPr>
          <a:xfrm>
            <a:off x="12920336" y="5655320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Tổng quan bài toán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0799406-A2A8-63F3-56B4-95D64D152AB6}"/>
              </a:ext>
            </a:extLst>
          </p:cNvPr>
          <p:cNvCxnSpPr>
            <a:cxnSpLocks/>
          </p:cNvCxnSpPr>
          <p:nvPr/>
        </p:nvCxnSpPr>
        <p:spPr>
          <a:xfrm>
            <a:off x="5096424" y="617913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2DD151EE-462E-6B71-1B45-03FD6CF4CA8E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0C9E332E-BF77-8FBC-70B0-29041F904690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472C24D9-4835-FB2A-23F3-D6E8629BC368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68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0512B-23B3-0B4F-F377-B98BB812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3E5525A1-47DA-9CA8-E7E9-5CA230761050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C8B1A437-B0E2-869F-CD87-0DB44D1DFAD7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E6DA7F5D-E732-F26B-064D-485C7F6F2733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DC99B35B-D20B-C0D7-4F61-C524982C6262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00DD60EA-409D-C819-48F2-097FE1F41263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47DA8B9-DE16-3D97-C737-635FD640C1C1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8C4426A-4E0D-50A7-DD36-0EA73F17AD18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AD84983-8EA9-4C6B-3959-0E32619B14E5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28D5F5D-20FE-5057-A7BD-15920F46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ECD6B-735C-ED29-C4DA-B7FA87C18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118FB93-DEB8-0EB6-7B28-1395CA25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60674B8-9C05-B4A8-67E7-1910B236BF74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C3182CE-3BB2-D5EF-0721-5B5E812E0719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F6989E5-A3D2-A784-D4CB-6E3A099936BE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5438E1B-02B6-7C61-A367-0346850B8809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0D69FCE2-DA26-AF79-4C9E-D40B26FD66C8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3496578-7666-7F4D-8796-8A69F50988DE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4C174C44-4EBD-8243-0D67-5245D83C7E64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AB11722-6DCB-C104-3A94-0EC074334115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BF89B09E-4075-0BC8-6BB4-9F79E0E0D557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CF4F8059-B4CE-0354-23E3-C9B95B826262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2DC6832-D227-8705-D0D7-71733CD08D81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ACA871D-7984-1E54-C070-899A06BBA281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DF30E3A9-C292-CFE0-D422-1CB6BD124F66}"/>
              </a:ext>
            </a:extLst>
          </p:cNvPr>
          <p:cNvSpPr/>
          <p:nvPr/>
        </p:nvSpPr>
        <p:spPr>
          <a:xfrm rot="5400000">
            <a:off x="5671285" y="194975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1E817E-0D10-C757-09E3-B76759A83B78}"/>
              </a:ext>
            </a:extLst>
          </p:cNvPr>
          <p:cNvSpPr txBox="1"/>
          <p:nvPr/>
        </p:nvSpPr>
        <p:spPr>
          <a:xfrm>
            <a:off x="5717006" y="205656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6440FF2E-6553-9CDF-6611-C61A34BE7DDA}"/>
              </a:ext>
            </a:extLst>
          </p:cNvPr>
          <p:cNvSpPr/>
          <p:nvPr/>
        </p:nvSpPr>
        <p:spPr>
          <a:xfrm rot="5400000">
            <a:off x="5383188" y="285883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47D170-F497-9336-5E34-237C4CD82270}"/>
              </a:ext>
            </a:extLst>
          </p:cNvPr>
          <p:cNvSpPr txBox="1"/>
          <p:nvPr/>
        </p:nvSpPr>
        <p:spPr>
          <a:xfrm>
            <a:off x="5428909" y="296564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F3D34D92-84CC-DD2F-19A1-3A7175C90FD6}"/>
              </a:ext>
            </a:extLst>
          </p:cNvPr>
          <p:cNvSpPr/>
          <p:nvPr/>
        </p:nvSpPr>
        <p:spPr>
          <a:xfrm rot="5400000">
            <a:off x="4993937" y="3764844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E4F38D-6AAF-C301-AA3C-F38AAB455CC0}"/>
              </a:ext>
            </a:extLst>
          </p:cNvPr>
          <p:cNvSpPr txBox="1"/>
          <p:nvPr/>
        </p:nvSpPr>
        <p:spPr>
          <a:xfrm>
            <a:off x="5039658" y="3871649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A151E4D-F5BE-B171-24E5-0E06C8B79A4B}"/>
              </a:ext>
            </a:extLst>
          </p:cNvPr>
          <p:cNvSpPr/>
          <p:nvPr/>
        </p:nvSpPr>
        <p:spPr>
          <a:xfrm rot="5400000">
            <a:off x="4604686" y="4670850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55B23B-D468-49E9-C4DE-FE1493F74E08}"/>
              </a:ext>
            </a:extLst>
          </p:cNvPr>
          <p:cNvSpPr txBox="1"/>
          <p:nvPr/>
        </p:nvSpPr>
        <p:spPr>
          <a:xfrm>
            <a:off x="4650407" y="4777655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43BEF282-36C6-1228-AAD7-9E217F77CE96}"/>
              </a:ext>
            </a:extLst>
          </p:cNvPr>
          <p:cNvSpPr/>
          <p:nvPr/>
        </p:nvSpPr>
        <p:spPr>
          <a:xfrm rot="5400000">
            <a:off x="4170977" y="5576856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EF19D8-4C38-CEBF-D311-87E9D72ED8B9}"/>
              </a:ext>
            </a:extLst>
          </p:cNvPr>
          <p:cNvSpPr txBox="1"/>
          <p:nvPr/>
        </p:nvSpPr>
        <p:spPr>
          <a:xfrm>
            <a:off x="4270054" y="5683661"/>
            <a:ext cx="3803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5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2B3DCEC-2511-9F7F-13D0-16B146A3630D}"/>
              </a:ext>
            </a:extLst>
          </p:cNvPr>
          <p:cNvSpPr txBox="1"/>
          <p:nvPr/>
        </p:nvSpPr>
        <p:spPr>
          <a:xfrm>
            <a:off x="4249520" y="564848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24EEF4-B9A0-A6D4-6998-B6159A471353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BB5286-8029-6491-46C3-C87FE858D202}"/>
              </a:ext>
            </a:extLst>
          </p:cNvPr>
          <p:cNvSpPr txBox="1"/>
          <p:nvPr/>
        </p:nvSpPr>
        <p:spPr>
          <a:xfrm>
            <a:off x="4867261" y="908106"/>
            <a:ext cx="6188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THỰC </a:t>
            </a:r>
            <a:r>
              <a:rPr lang="vi-V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TẬP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LÝ LUẬN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8951ACCE-535F-F1FF-6446-8E1CD35B0573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417FFAA-553F-442A-99D4-0B2D87E4FD67}"/>
              </a:ext>
            </a:extLst>
          </p:cNvPr>
          <p:cNvSpPr txBox="1"/>
          <p:nvPr/>
        </p:nvSpPr>
        <p:spPr>
          <a:xfrm>
            <a:off x="6520799" y="195560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Giới thiệu công ty phần mềm GNN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D5F965A-5A94-4C55-8C93-98944CDA4624}"/>
              </a:ext>
            </a:extLst>
          </p:cNvPr>
          <p:cNvCxnSpPr/>
          <p:nvPr/>
        </p:nvCxnSpPr>
        <p:spPr>
          <a:xfrm>
            <a:off x="6577566" y="25896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E4C46D9-9DC2-FE0B-46D1-B4C14053ECF2}"/>
              </a:ext>
            </a:extLst>
          </p:cNvPr>
          <p:cNvSpPr txBox="1"/>
          <p:nvPr/>
        </p:nvSpPr>
        <p:spPr>
          <a:xfrm>
            <a:off x="6192604" y="2856999"/>
            <a:ext cx="559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Vị trí &amp; nhiệm vụ thực tập</a:t>
            </a:r>
            <a:br>
              <a:rPr lang="vi-VN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877FBB8-8BD1-5CAC-C876-9AFEFF808F70}"/>
              </a:ext>
            </a:extLst>
          </p:cNvPr>
          <p:cNvCxnSpPr/>
          <p:nvPr/>
        </p:nvCxnSpPr>
        <p:spPr>
          <a:xfrm>
            <a:off x="6084586" y="35802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2C6F1AB-10B7-7BEA-0329-B8ECE792A6C0}"/>
              </a:ext>
            </a:extLst>
          </p:cNvPr>
          <p:cNvSpPr txBox="1"/>
          <p:nvPr/>
        </p:nvSpPr>
        <p:spPr>
          <a:xfrm>
            <a:off x="5820502" y="3765040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Lý do chọn đề tài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8D5A97D-3700-6B36-FBCF-92599070CB77}"/>
              </a:ext>
            </a:extLst>
          </p:cNvPr>
          <p:cNvCxnSpPr/>
          <p:nvPr/>
        </p:nvCxnSpPr>
        <p:spPr>
          <a:xfrm>
            <a:off x="5866812" y="4399085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8308C15-3A67-28F1-32B2-FA737DACF337}"/>
              </a:ext>
            </a:extLst>
          </p:cNvPr>
          <p:cNvSpPr txBox="1"/>
          <p:nvPr/>
        </p:nvSpPr>
        <p:spPr>
          <a:xfrm>
            <a:off x="5473366" y="4679389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Mục tiêu đề tài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8B658C0-A27D-3804-6136-E7BD59AC6BAE}"/>
              </a:ext>
            </a:extLst>
          </p:cNvPr>
          <p:cNvCxnSpPr/>
          <p:nvPr/>
        </p:nvCxnSpPr>
        <p:spPr>
          <a:xfrm>
            <a:off x="5530133" y="5313434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375DA2C-335F-63DC-74B8-2A0F0C7BABEA}"/>
              </a:ext>
            </a:extLst>
          </p:cNvPr>
          <p:cNvSpPr txBox="1"/>
          <p:nvPr/>
        </p:nvSpPr>
        <p:spPr>
          <a:xfrm>
            <a:off x="5039657" y="554508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Tổng quan bài toán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2E9F226-58FA-B4BD-73B9-7EC4B63816CD}"/>
              </a:ext>
            </a:extLst>
          </p:cNvPr>
          <p:cNvCxnSpPr>
            <a:cxnSpLocks/>
          </p:cNvCxnSpPr>
          <p:nvPr/>
        </p:nvCxnSpPr>
        <p:spPr>
          <a:xfrm>
            <a:off x="5096424" y="617913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ADB70EDA-1807-C9DD-16E6-2D1CAC166486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3F47C8A2-9464-1C3F-ED38-9614CC19C045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E04AFE69-0B6D-8752-6377-1399C508CD05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30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AF192-072F-3C42-3977-521ADE5E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200E-006B-D167-EA7F-4B6720EE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CÔNG TY PHẦN MỀM GNN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F054F-629C-6B21-7AE8-CBBCE127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D107FB-2CF6-5C4E-E7A1-419E6279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3504"/>
            <a:ext cx="9352721" cy="314496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A4631F-872F-C5B0-C0A2-F743EDB38553}"/>
              </a:ext>
            </a:extLst>
          </p:cNvPr>
          <p:cNvSpPr/>
          <p:nvPr/>
        </p:nvSpPr>
        <p:spPr>
          <a:xfrm>
            <a:off x="112395" y="924599"/>
            <a:ext cx="3865245" cy="2434907"/>
          </a:xfrm>
          <a:prstGeom prst="roundRect">
            <a:avLst>
              <a:gd name="adj" fmla="val 3675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C278D0-9469-50A5-C589-6DD1B0E27913}"/>
              </a:ext>
            </a:extLst>
          </p:cNvPr>
          <p:cNvSpPr/>
          <p:nvPr/>
        </p:nvSpPr>
        <p:spPr>
          <a:xfrm>
            <a:off x="343733" y="1033739"/>
            <a:ext cx="671155" cy="671155"/>
          </a:xfrm>
          <a:prstGeom prst="roundRect">
            <a:avLst>
              <a:gd name="adj" fmla="val 13622912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24AA650-3E31-3289-327B-0CE56040B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280" y="1218286"/>
            <a:ext cx="301943" cy="30194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81709BB-0006-B7EC-3EB8-17A8BD0E8667}"/>
              </a:ext>
            </a:extLst>
          </p:cNvPr>
          <p:cNvSpPr/>
          <p:nvPr/>
        </p:nvSpPr>
        <p:spPr>
          <a:xfrm>
            <a:off x="1200323" y="1245270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Tên đầy đủ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9636D61-9AF7-3789-0389-55752A1A403F}"/>
              </a:ext>
            </a:extLst>
          </p:cNvPr>
          <p:cNvSpPr/>
          <p:nvPr/>
        </p:nvSpPr>
        <p:spPr>
          <a:xfrm>
            <a:off x="131499" y="2139334"/>
            <a:ext cx="3865245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CTY TNHH Giải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Pháp </a:t>
            </a: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0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Công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Nghệ Phần Mềm GNN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F14B0B4-67FB-5A57-95F8-CE932CB9C1A6}"/>
              </a:ext>
            </a:extLst>
          </p:cNvPr>
          <p:cNvSpPr/>
          <p:nvPr/>
        </p:nvSpPr>
        <p:spPr>
          <a:xfrm>
            <a:off x="4271248" y="924599"/>
            <a:ext cx="3865245" cy="2434907"/>
          </a:xfrm>
          <a:prstGeom prst="roundRect">
            <a:avLst>
              <a:gd name="adj" fmla="val 3675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1FBFAF6-0EAA-7857-BD75-26D98A99A497}"/>
              </a:ext>
            </a:extLst>
          </p:cNvPr>
          <p:cNvSpPr/>
          <p:nvPr/>
        </p:nvSpPr>
        <p:spPr>
          <a:xfrm>
            <a:off x="4502587" y="1033739"/>
            <a:ext cx="671155" cy="671155"/>
          </a:xfrm>
          <a:prstGeom prst="roundRect">
            <a:avLst>
              <a:gd name="adj" fmla="val 13622912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068FA7D8-D1B2-B5E2-ADFD-10F7AAC0E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7133" y="1218286"/>
            <a:ext cx="301943" cy="301943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39A0186C-33B5-D09A-5158-67681141969B}"/>
              </a:ext>
            </a:extLst>
          </p:cNvPr>
          <p:cNvSpPr/>
          <p:nvPr/>
        </p:nvSpPr>
        <p:spPr>
          <a:xfrm>
            <a:off x="5401556" y="1245270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Lĩnh vực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6C9E6C82-CCE5-0938-CEED-FC70AFAF7DED}"/>
              </a:ext>
            </a:extLst>
          </p:cNvPr>
          <p:cNvSpPr/>
          <p:nvPr/>
        </p:nvSpPr>
        <p:spPr>
          <a:xfrm>
            <a:off x="4250845" y="2139334"/>
            <a:ext cx="374296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Phần mềm – Dữ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liệu </a:t>
            </a: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0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– Trí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tuệ nhân tạo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AACFDECC-5982-9E7A-E711-838FB57ABC03}"/>
              </a:ext>
            </a:extLst>
          </p:cNvPr>
          <p:cNvSpPr/>
          <p:nvPr/>
        </p:nvSpPr>
        <p:spPr>
          <a:xfrm>
            <a:off x="8367832" y="924599"/>
            <a:ext cx="3710201" cy="2434907"/>
          </a:xfrm>
          <a:prstGeom prst="roundRect">
            <a:avLst>
              <a:gd name="adj" fmla="val 3675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B4CF17F-CCDD-B55B-9938-E1A419AA8F53}"/>
              </a:ext>
            </a:extLst>
          </p:cNvPr>
          <p:cNvSpPr/>
          <p:nvPr/>
        </p:nvSpPr>
        <p:spPr>
          <a:xfrm>
            <a:off x="8599171" y="1033739"/>
            <a:ext cx="644233" cy="671155"/>
          </a:xfrm>
          <a:prstGeom prst="roundRect">
            <a:avLst>
              <a:gd name="adj" fmla="val 13622912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EE051C4D-E304-DB9A-2A61-1FEEA14E6B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3718" y="1218286"/>
            <a:ext cx="289831" cy="301943"/>
          </a:xfrm>
          <a:prstGeom prst="rect">
            <a:avLst/>
          </a:prstGeom>
        </p:spPr>
      </p:pic>
      <p:sp>
        <p:nvSpPr>
          <p:cNvPr id="22" name="Text 11">
            <a:extLst>
              <a:ext uri="{FF2B5EF4-FFF2-40B4-BE49-F238E27FC236}">
                <a16:creationId xmlns:a16="http://schemas.microsoft.com/office/drawing/2014/main" id="{4B8909D4-ED14-5BE4-2C33-E6D38D253CEC}"/>
              </a:ext>
            </a:extLst>
          </p:cNvPr>
          <p:cNvSpPr/>
          <p:nvPr/>
        </p:nvSpPr>
        <p:spPr>
          <a:xfrm>
            <a:off x="9478711" y="1194473"/>
            <a:ext cx="2684250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Định hướng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696AF13-507B-234A-955D-61FAB0994541}"/>
              </a:ext>
            </a:extLst>
          </p:cNvPr>
          <p:cNvSpPr/>
          <p:nvPr/>
        </p:nvSpPr>
        <p:spPr>
          <a:xfrm>
            <a:off x="8476894" y="2142052"/>
            <a:ext cx="350451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Giải pháp công nghệ thông minh và tiên tiến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A green and blue logo&#10;&#10;AI-generated content may be incorrect.">
            <a:extLst>
              <a:ext uri="{FF2B5EF4-FFF2-40B4-BE49-F238E27FC236}">
                <a16:creationId xmlns:a16="http://schemas.microsoft.com/office/drawing/2014/main" id="{1025AB1B-420A-1FB6-5AD9-9DA0FD37B3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80" y="3680177"/>
            <a:ext cx="28860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A screenshot of a website&#10;&#10;AI-generated content may be incorrect.">
            <a:extLst>
              <a:ext uri="{FF2B5EF4-FFF2-40B4-BE49-F238E27FC236}">
                <a16:creationId xmlns:a16="http://schemas.microsoft.com/office/drawing/2014/main" id="{50678256-CDAD-2551-BE44-5A76F218AE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7388" y="3739908"/>
            <a:ext cx="3849105" cy="2602653"/>
          </a:xfrm>
          <a:prstGeom prst="rect">
            <a:avLst/>
          </a:prstGeom>
        </p:spPr>
      </p:pic>
      <p:pic>
        <p:nvPicPr>
          <p:cNvPr id="1026" name="Picture 2" descr="Nâng cao hiệu quả các Robot thông minh với Smar - Advantech">
            <a:extLst>
              <a:ext uri="{FF2B5EF4-FFF2-40B4-BE49-F238E27FC236}">
                <a16:creationId xmlns:a16="http://schemas.microsoft.com/office/drawing/2014/main" id="{9018F0EC-83C5-FB8C-ACB0-34D2F242D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831" y="3726626"/>
            <a:ext cx="3738027" cy="261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546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0628-1440-086C-69A4-1FFF2930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472F-AFB6-0FCD-1881-A1F7BBE6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VỊ TRÍ &amp; NHIỆM VỤ THỰC TẬP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80EE0-9404-5B4E-CCF4-743E0A33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F0D699C-C33F-4481-BE83-D17F56DB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3504"/>
            <a:ext cx="9352721" cy="314496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163851-8587-B6E0-5BCF-7AA3FC7F0122}"/>
              </a:ext>
            </a:extLst>
          </p:cNvPr>
          <p:cNvSpPr/>
          <p:nvPr/>
        </p:nvSpPr>
        <p:spPr>
          <a:xfrm>
            <a:off x="7638860" y="1016000"/>
            <a:ext cx="4342550" cy="5384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3F3C900C-7A69-104D-A1EC-828CC3C51C27}"/>
              </a:ext>
            </a:extLst>
          </p:cNvPr>
          <p:cNvSpPr/>
          <p:nvPr/>
        </p:nvSpPr>
        <p:spPr>
          <a:xfrm>
            <a:off x="1069668" y="1045052"/>
            <a:ext cx="204430" cy="919996"/>
          </a:xfrm>
          <a:prstGeom prst="roundRect">
            <a:avLst>
              <a:gd name="adj" fmla="val 4201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B876B854-A5B9-47CC-25C0-6198780D90AE}"/>
              </a:ext>
            </a:extLst>
          </p:cNvPr>
          <p:cNvSpPr/>
          <p:nvPr/>
        </p:nvSpPr>
        <p:spPr>
          <a:xfrm>
            <a:off x="865238" y="910869"/>
            <a:ext cx="613410" cy="613410"/>
          </a:xfrm>
          <a:prstGeom prst="roundRect">
            <a:avLst>
              <a:gd name="adj" fmla="val 7453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22C3A922-1EF7-36F9-5914-23648E6DF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590" y="1064221"/>
            <a:ext cx="306705" cy="306705"/>
          </a:xfrm>
          <a:prstGeom prst="rect">
            <a:avLst/>
          </a:prstGeom>
        </p:spPr>
      </p:pic>
      <p:sp>
        <p:nvSpPr>
          <p:cNvPr id="56" name="Text 3">
            <a:extLst>
              <a:ext uri="{FF2B5EF4-FFF2-40B4-BE49-F238E27FC236}">
                <a16:creationId xmlns:a16="http://schemas.microsoft.com/office/drawing/2014/main" id="{33045A26-3FDF-352E-FBAA-B20007839491}"/>
              </a:ext>
            </a:extLst>
          </p:cNvPr>
          <p:cNvSpPr/>
          <p:nvPr/>
        </p:nvSpPr>
        <p:spPr>
          <a:xfrm>
            <a:off x="1683078" y="942778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Vị trí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DC1A39DD-CDAF-5383-A04D-F05233492ECA}"/>
              </a:ext>
            </a:extLst>
          </p:cNvPr>
          <p:cNvSpPr/>
          <p:nvPr/>
        </p:nvSpPr>
        <p:spPr>
          <a:xfrm>
            <a:off x="1683078" y="1384857"/>
            <a:ext cx="689479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Data Analyst Intern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B9B61C05-2D88-28A5-A543-F3ED1008D660}"/>
              </a:ext>
            </a:extLst>
          </p:cNvPr>
          <p:cNvSpPr/>
          <p:nvPr/>
        </p:nvSpPr>
        <p:spPr>
          <a:xfrm>
            <a:off x="1376373" y="2476303"/>
            <a:ext cx="204430" cy="919996"/>
          </a:xfrm>
          <a:prstGeom prst="roundRect">
            <a:avLst>
              <a:gd name="adj" fmla="val 4201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69817379-DBBD-87B1-D690-B8AE871994A1}"/>
              </a:ext>
            </a:extLst>
          </p:cNvPr>
          <p:cNvSpPr/>
          <p:nvPr/>
        </p:nvSpPr>
        <p:spPr>
          <a:xfrm>
            <a:off x="1171943" y="2342119"/>
            <a:ext cx="613410" cy="613410"/>
          </a:xfrm>
          <a:prstGeom prst="roundRect">
            <a:avLst>
              <a:gd name="adj" fmla="val 7453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2" descr="preencoded.png">
            <a:extLst>
              <a:ext uri="{FF2B5EF4-FFF2-40B4-BE49-F238E27FC236}">
                <a16:creationId xmlns:a16="http://schemas.microsoft.com/office/drawing/2014/main" id="{C5248115-8DF8-6FDC-C43C-4AD44A1C3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5295" y="2495472"/>
            <a:ext cx="306705" cy="306705"/>
          </a:xfrm>
          <a:prstGeom prst="rect">
            <a:avLst/>
          </a:prstGeom>
        </p:spPr>
      </p:pic>
      <p:sp>
        <p:nvSpPr>
          <p:cNvPr id="61" name="Text 7">
            <a:extLst>
              <a:ext uri="{FF2B5EF4-FFF2-40B4-BE49-F238E27FC236}">
                <a16:creationId xmlns:a16="http://schemas.microsoft.com/office/drawing/2014/main" id="{A02B7909-6EDA-0D91-73BE-A23849BEA3AE}"/>
              </a:ext>
            </a:extLst>
          </p:cNvPr>
          <p:cNvSpPr/>
          <p:nvPr/>
        </p:nvSpPr>
        <p:spPr>
          <a:xfrm>
            <a:off x="1989783" y="2374028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Thu thập 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222BB43F-695D-5FEE-FF8B-4ED12044FC57}"/>
              </a:ext>
            </a:extLst>
          </p:cNvPr>
          <p:cNvSpPr/>
          <p:nvPr/>
        </p:nvSpPr>
        <p:spPr>
          <a:xfrm>
            <a:off x="1989783" y="2816107"/>
            <a:ext cx="6588085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Dữ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liệu 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lấy từ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các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nguồn đáng tin cậy.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145F3265-F14C-8FD9-9117-9B45214B396D}"/>
              </a:ext>
            </a:extLst>
          </p:cNvPr>
          <p:cNvSpPr/>
          <p:nvPr/>
        </p:nvSpPr>
        <p:spPr>
          <a:xfrm>
            <a:off x="1683078" y="3907553"/>
            <a:ext cx="204430" cy="919996"/>
          </a:xfrm>
          <a:prstGeom prst="roundRect">
            <a:avLst>
              <a:gd name="adj" fmla="val 4201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CB14926D-DAB0-3C88-8AD0-EA8155E5CC66}"/>
              </a:ext>
            </a:extLst>
          </p:cNvPr>
          <p:cNvSpPr/>
          <p:nvPr/>
        </p:nvSpPr>
        <p:spPr>
          <a:xfrm>
            <a:off x="1478648" y="3773369"/>
            <a:ext cx="613410" cy="613410"/>
          </a:xfrm>
          <a:prstGeom prst="roundRect">
            <a:avLst>
              <a:gd name="adj" fmla="val 7453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3" descr="preencoded.png">
            <a:extLst>
              <a:ext uri="{FF2B5EF4-FFF2-40B4-BE49-F238E27FC236}">
                <a16:creationId xmlns:a16="http://schemas.microsoft.com/office/drawing/2014/main" id="{05ABF615-DF95-140A-55DF-FB9CCC715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2000" y="3926722"/>
            <a:ext cx="306705" cy="306705"/>
          </a:xfrm>
          <a:prstGeom prst="rect">
            <a:avLst/>
          </a:prstGeom>
        </p:spPr>
      </p:pic>
      <p:sp>
        <p:nvSpPr>
          <p:cNvPr id="69" name="Text 11">
            <a:extLst>
              <a:ext uri="{FF2B5EF4-FFF2-40B4-BE49-F238E27FC236}">
                <a16:creationId xmlns:a16="http://schemas.microsoft.com/office/drawing/2014/main" id="{F9E45106-F704-FC5C-BB90-D4A0EFC3D6CF}"/>
              </a:ext>
            </a:extLst>
          </p:cNvPr>
          <p:cNvSpPr/>
          <p:nvPr/>
        </p:nvSpPr>
        <p:spPr>
          <a:xfrm>
            <a:off x="2296488" y="3805278"/>
            <a:ext cx="314563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Tiền xử lý &amp; Trực quan hóa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760E8971-CE18-B4B6-77A9-FFF41333C59E}"/>
              </a:ext>
            </a:extLst>
          </p:cNvPr>
          <p:cNvSpPr/>
          <p:nvPr/>
        </p:nvSpPr>
        <p:spPr>
          <a:xfrm>
            <a:off x="2296488" y="4247357"/>
            <a:ext cx="628138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Làm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sạch,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chuẩn hóa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8E90999E-B474-7402-376F-8563B7F620FF}"/>
              </a:ext>
            </a:extLst>
          </p:cNvPr>
          <p:cNvSpPr/>
          <p:nvPr/>
        </p:nvSpPr>
        <p:spPr>
          <a:xfrm>
            <a:off x="1989783" y="5338803"/>
            <a:ext cx="204430" cy="919996"/>
          </a:xfrm>
          <a:prstGeom prst="roundRect">
            <a:avLst>
              <a:gd name="adj" fmla="val 4201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FD1A9430-6A5A-0EF0-4E35-D597B17BB9E2}"/>
              </a:ext>
            </a:extLst>
          </p:cNvPr>
          <p:cNvSpPr/>
          <p:nvPr/>
        </p:nvSpPr>
        <p:spPr>
          <a:xfrm>
            <a:off x="1785353" y="5204620"/>
            <a:ext cx="613410" cy="613410"/>
          </a:xfrm>
          <a:prstGeom prst="roundRect">
            <a:avLst>
              <a:gd name="adj" fmla="val 7453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A619D3DA-F0EA-F83C-1D63-6F25EE50F2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38705" y="5357972"/>
            <a:ext cx="306705" cy="306705"/>
          </a:xfrm>
          <a:prstGeom prst="rect">
            <a:avLst/>
          </a:prstGeom>
        </p:spPr>
      </p:pic>
      <p:sp>
        <p:nvSpPr>
          <p:cNvPr id="74" name="Text 15">
            <a:extLst>
              <a:ext uri="{FF2B5EF4-FFF2-40B4-BE49-F238E27FC236}">
                <a16:creationId xmlns:a16="http://schemas.microsoft.com/office/drawing/2014/main" id="{D75B4EE6-08C8-F966-8B34-A3393A2F82A2}"/>
              </a:ext>
            </a:extLst>
          </p:cNvPr>
          <p:cNvSpPr/>
          <p:nvPr/>
        </p:nvSpPr>
        <p:spPr>
          <a:xfrm>
            <a:off x="2603193" y="5236529"/>
            <a:ext cx="2936558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Hỗ trợ xây dựng mô hình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A71BD94A-3095-7B51-C9D2-3CB7F286DE11}"/>
              </a:ext>
            </a:extLst>
          </p:cNvPr>
          <p:cNvSpPr/>
          <p:nvPr/>
        </p:nvSpPr>
        <p:spPr>
          <a:xfrm>
            <a:off x="2603193" y="5678608"/>
            <a:ext cx="5974675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Phát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triển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các mô hình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dự báo.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44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7974-6555-AF07-E143-044A8B41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344B-A54C-A3E9-400E-27E1C481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9C84B-22F6-2759-A8AC-95B9086D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AC5844-B0C0-0AEF-F729-651A8A7E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3504"/>
            <a:ext cx="9352721" cy="314496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DEC5E7C-221E-85F2-F069-C048874246CA}"/>
              </a:ext>
            </a:extLst>
          </p:cNvPr>
          <p:cNvSpPr/>
          <p:nvPr/>
        </p:nvSpPr>
        <p:spPr>
          <a:xfrm>
            <a:off x="545990" y="916901"/>
            <a:ext cx="5024349" cy="1505545"/>
          </a:xfrm>
          <a:prstGeom prst="roundRect">
            <a:avLst>
              <a:gd name="adj" fmla="val 7288"/>
            </a:avLst>
          </a:prstGeom>
          <a:solidFill>
            <a:srgbClr val="B0E2FA"/>
          </a:solidFill>
          <a:ln w="2286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875D8F-0B34-DFA7-238C-EC556A43D4EF}"/>
              </a:ext>
            </a:extLst>
          </p:cNvPr>
          <p:cNvSpPr/>
          <p:nvPr/>
        </p:nvSpPr>
        <p:spPr>
          <a:xfrm>
            <a:off x="523130" y="916901"/>
            <a:ext cx="70444" cy="1505545"/>
          </a:xfrm>
          <a:prstGeom prst="roundRect">
            <a:avLst>
              <a:gd name="adj" fmla="val 91104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E1AF28-4571-B1E4-1F08-10E47E30F53A}"/>
              </a:ext>
            </a:extLst>
          </p:cNvPr>
          <p:cNvSpPr/>
          <p:nvPr/>
        </p:nvSpPr>
        <p:spPr>
          <a:xfrm>
            <a:off x="835668" y="1138000"/>
            <a:ext cx="190996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Biến đổi khí hậu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3240005-23C6-9C61-95D4-6FA74EF9BFB8}"/>
              </a:ext>
            </a:extLst>
          </p:cNvPr>
          <p:cNvSpPr/>
          <p:nvPr/>
        </p:nvSpPr>
        <p:spPr>
          <a:xfrm>
            <a:off x="649806" y="1668900"/>
            <a:ext cx="4816717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Ảnh hưởng mạnh tại Việt Nam, gây ra nhiều thách thức và thiệt hại.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1E63008-D163-448B-2F6F-8A16A4D17409}"/>
              </a:ext>
            </a:extLst>
          </p:cNvPr>
          <p:cNvSpPr/>
          <p:nvPr/>
        </p:nvSpPr>
        <p:spPr>
          <a:xfrm>
            <a:off x="6621569" y="916901"/>
            <a:ext cx="5024441" cy="1505545"/>
          </a:xfrm>
          <a:prstGeom prst="roundRect">
            <a:avLst>
              <a:gd name="adj" fmla="val 7288"/>
            </a:avLst>
          </a:prstGeom>
          <a:solidFill>
            <a:srgbClr val="B0E2FA"/>
          </a:solidFill>
          <a:ln w="2286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E1513F8-966E-8F02-A1C7-804DB291DAB5}"/>
              </a:ext>
            </a:extLst>
          </p:cNvPr>
          <p:cNvSpPr/>
          <p:nvPr/>
        </p:nvSpPr>
        <p:spPr>
          <a:xfrm>
            <a:off x="6598710" y="916901"/>
            <a:ext cx="70444" cy="1505545"/>
          </a:xfrm>
          <a:prstGeom prst="roundRect">
            <a:avLst>
              <a:gd name="adj" fmla="val 91104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FDECD16-8763-9EF6-8489-072657231578}"/>
              </a:ext>
            </a:extLst>
          </p:cNvPr>
          <p:cNvSpPr/>
          <p:nvPr/>
        </p:nvSpPr>
        <p:spPr>
          <a:xfrm>
            <a:off x="6911248" y="1138000"/>
            <a:ext cx="190996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Nhu cầu dự báo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558E2C4-41B4-9EA7-9C4F-4CB368F47F4A}"/>
              </a:ext>
            </a:extLst>
          </p:cNvPr>
          <p:cNvSpPr/>
          <p:nvPr/>
        </p:nvSpPr>
        <p:spPr>
          <a:xfrm>
            <a:off x="6818316" y="1675681"/>
            <a:ext cx="262862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ngắn hạn 1–7 ngày.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83FF24E1-2510-29C4-1ACD-5DA7A815642C}"/>
              </a:ext>
            </a:extLst>
          </p:cNvPr>
          <p:cNvSpPr/>
          <p:nvPr/>
        </p:nvSpPr>
        <p:spPr>
          <a:xfrm>
            <a:off x="545990" y="2620685"/>
            <a:ext cx="5024349" cy="1505545"/>
          </a:xfrm>
          <a:prstGeom prst="roundRect">
            <a:avLst>
              <a:gd name="adj" fmla="val 7288"/>
            </a:avLst>
          </a:prstGeom>
          <a:solidFill>
            <a:srgbClr val="B0E2FA"/>
          </a:solidFill>
          <a:ln w="2286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5FE3CFA7-3051-D80B-A5D3-1ED8C0BC1256}"/>
              </a:ext>
            </a:extLst>
          </p:cNvPr>
          <p:cNvSpPr/>
          <p:nvPr/>
        </p:nvSpPr>
        <p:spPr>
          <a:xfrm>
            <a:off x="523130" y="2620685"/>
            <a:ext cx="70444" cy="1505545"/>
          </a:xfrm>
          <a:prstGeom prst="roundRect">
            <a:avLst>
              <a:gd name="adj" fmla="val 91104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AF79BF73-D26C-DE84-4496-29CE2CEE60F1}"/>
              </a:ext>
            </a:extLst>
          </p:cNvPr>
          <p:cNvSpPr/>
          <p:nvPr/>
        </p:nvSpPr>
        <p:spPr>
          <a:xfrm>
            <a:off x="835669" y="2841784"/>
            <a:ext cx="202278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Hạn chế mô hình vật lý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08B7DA6-C683-F5DB-C87D-ACA67BDB0857}"/>
              </a:ext>
            </a:extLst>
          </p:cNvPr>
          <p:cNvSpPr/>
          <p:nvPr/>
        </p:nvSpPr>
        <p:spPr>
          <a:xfrm>
            <a:off x="732096" y="3372684"/>
            <a:ext cx="4816717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Mô hình truyền thống gặp khó khăn trong việc dự báo chính xác.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FF47078D-5B70-4D87-F539-56541704C98E}"/>
              </a:ext>
            </a:extLst>
          </p:cNvPr>
          <p:cNvSpPr/>
          <p:nvPr/>
        </p:nvSpPr>
        <p:spPr>
          <a:xfrm>
            <a:off x="6644429" y="2620685"/>
            <a:ext cx="5024441" cy="1505545"/>
          </a:xfrm>
          <a:prstGeom prst="roundRect">
            <a:avLst>
              <a:gd name="adj" fmla="val 7288"/>
            </a:avLst>
          </a:prstGeom>
          <a:solidFill>
            <a:srgbClr val="B0E2FA"/>
          </a:solidFill>
          <a:ln w="2286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D4CD007-2BEB-EB33-FC80-862625EB3F8C}"/>
              </a:ext>
            </a:extLst>
          </p:cNvPr>
          <p:cNvSpPr/>
          <p:nvPr/>
        </p:nvSpPr>
        <p:spPr>
          <a:xfrm>
            <a:off x="6621570" y="2620685"/>
            <a:ext cx="70444" cy="1505545"/>
          </a:xfrm>
          <a:prstGeom prst="roundRect">
            <a:avLst>
              <a:gd name="adj" fmla="val 91104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CC976CCC-123D-E211-10E8-43FC41EEB3D3}"/>
              </a:ext>
            </a:extLst>
          </p:cNvPr>
          <p:cNvSpPr/>
          <p:nvPr/>
        </p:nvSpPr>
        <p:spPr>
          <a:xfrm>
            <a:off x="6934108" y="2841784"/>
            <a:ext cx="190996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Cơ hội ML/DL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D124721-F52C-7E7B-F5DA-3FC55BDB24CE}"/>
              </a:ext>
            </a:extLst>
          </p:cNvPr>
          <p:cNvSpPr/>
          <p:nvPr/>
        </p:nvSpPr>
        <p:spPr>
          <a:xfrm>
            <a:off x="6934108" y="3270528"/>
            <a:ext cx="4630946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Tiềm năng ứng dụng học máy/học sâu trong khí tượng.</a:t>
            </a:r>
            <a:endParaRPr lang="en-US" sz="155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58705CF5-64CB-7DBD-9880-8C67B86FB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7" y="4259672"/>
            <a:ext cx="3662306" cy="2233174"/>
          </a:xfrm>
          <a:prstGeom prst="rect">
            <a:avLst/>
          </a:prstGeom>
        </p:spPr>
      </p:pic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FC70A9D2-4635-EBFD-ED80-B72BAD8FB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944" y="4259672"/>
            <a:ext cx="3836562" cy="2233174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EF78213D-5DA4-C87E-9D5A-36E86D9D7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237" y="4259672"/>
            <a:ext cx="3707173" cy="223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31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85-80B5-4821-5CBA-1546DE1F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43E3-B70F-19D2-DBD2-0E1F36D0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11CDD7C-9666-BB91-95AA-C98DB847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228"/>
            <a:ext cx="9352721" cy="293771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308AF8-4853-F3E1-BBF6-9F04CD0DA083}"/>
              </a:ext>
            </a:extLst>
          </p:cNvPr>
          <p:cNvGrpSpPr/>
          <p:nvPr/>
        </p:nvGrpSpPr>
        <p:grpSpPr>
          <a:xfrm>
            <a:off x="6885174" y="878658"/>
            <a:ext cx="5306826" cy="5496849"/>
            <a:chOff x="6885174" y="878658"/>
            <a:chExt cx="5306826" cy="549684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856873F6-BEF4-31B2-0FB9-2C493DA3F6E4}"/>
                </a:ext>
              </a:extLst>
            </p:cNvPr>
            <p:cNvSpPr/>
            <p:nvPr/>
          </p:nvSpPr>
          <p:spPr>
            <a:xfrm>
              <a:off x="10913925" y="5265051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B85EA70E-F6C0-0899-70EB-7C7365AE65EF}"/>
                </a:ext>
              </a:extLst>
            </p:cNvPr>
            <p:cNvSpPr/>
            <p:nvPr/>
          </p:nvSpPr>
          <p:spPr>
            <a:xfrm>
              <a:off x="10913925" y="4185413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4E951678-0EEA-BEC3-5055-12FFF424C70F}"/>
                </a:ext>
              </a:extLst>
            </p:cNvPr>
            <p:cNvSpPr/>
            <p:nvPr/>
          </p:nvSpPr>
          <p:spPr>
            <a:xfrm>
              <a:off x="10913925" y="3069150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D6C5A7F5-39EC-C0A2-F230-A4046D105D93}"/>
                </a:ext>
              </a:extLst>
            </p:cNvPr>
            <p:cNvSpPr/>
            <p:nvPr/>
          </p:nvSpPr>
          <p:spPr>
            <a:xfrm>
              <a:off x="10913925" y="1967031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3606A6E4-0FC1-D51A-0EF3-F17C031C22D6}"/>
                </a:ext>
              </a:extLst>
            </p:cNvPr>
            <p:cNvSpPr/>
            <p:nvPr/>
          </p:nvSpPr>
          <p:spPr>
            <a:xfrm>
              <a:off x="10894755" y="896638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3873AF8E-3E45-1DE8-83E9-BCFB8B0CD51B}"/>
                </a:ext>
              </a:extLst>
            </p:cNvPr>
            <p:cNvSpPr/>
            <p:nvPr/>
          </p:nvSpPr>
          <p:spPr>
            <a:xfrm>
              <a:off x="6885175" y="1977127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Hexagon 72">
              <a:extLst>
                <a:ext uri="{FF2B5EF4-FFF2-40B4-BE49-F238E27FC236}">
                  <a16:creationId xmlns:a16="http://schemas.microsoft.com/office/drawing/2014/main" id="{9B748EB7-FDA0-F841-EA5C-B2653E2A59B6}"/>
                </a:ext>
              </a:extLst>
            </p:cNvPr>
            <p:cNvSpPr/>
            <p:nvPr/>
          </p:nvSpPr>
          <p:spPr>
            <a:xfrm>
              <a:off x="9897189" y="4725232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B385DA86-8C15-0546-EE67-999BF002CF03}"/>
                </a:ext>
              </a:extLst>
            </p:cNvPr>
            <p:cNvSpPr/>
            <p:nvPr/>
          </p:nvSpPr>
          <p:spPr>
            <a:xfrm>
              <a:off x="9904609" y="3633722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D68C5E55-89F9-A71A-F653-79956BA7467E}"/>
                </a:ext>
              </a:extLst>
            </p:cNvPr>
            <p:cNvSpPr/>
            <p:nvPr/>
          </p:nvSpPr>
          <p:spPr>
            <a:xfrm>
              <a:off x="9904610" y="2532392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F5D7D6F2-4BC5-0FA3-03B1-8B0F6D4B3A65}"/>
                </a:ext>
              </a:extLst>
            </p:cNvPr>
            <p:cNvSpPr/>
            <p:nvPr/>
          </p:nvSpPr>
          <p:spPr>
            <a:xfrm>
              <a:off x="9897189" y="1445799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83492D18-D44A-6562-D090-1125200CF9FE}"/>
                </a:ext>
              </a:extLst>
            </p:cNvPr>
            <p:cNvSpPr/>
            <p:nvPr/>
          </p:nvSpPr>
          <p:spPr>
            <a:xfrm>
              <a:off x="8886256" y="5277186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4EF034C4-CA75-902D-31D6-2D8F9EFA5657}"/>
                </a:ext>
              </a:extLst>
            </p:cNvPr>
            <p:cNvSpPr/>
            <p:nvPr/>
          </p:nvSpPr>
          <p:spPr>
            <a:xfrm>
              <a:off x="8895184" y="4184600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2DBD7F8E-0AF1-E768-FFE7-47619ED2986C}"/>
                </a:ext>
              </a:extLst>
            </p:cNvPr>
            <p:cNvSpPr/>
            <p:nvPr/>
          </p:nvSpPr>
          <p:spPr>
            <a:xfrm>
              <a:off x="8893676" y="3076484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52AFE2A1-744A-2177-8EDD-F72147525530}"/>
                </a:ext>
              </a:extLst>
            </p:cNvPr>
            <p:cNvSpPr/>
            <p:nvPr/>
          </p:nvSpPr>
          <p:spPr>
            <a:xfrm>
              <a:off x="8886255" y="1983898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42B398CB-57C0-1E30-7D9B-406E1B5CCD00}"/>
                </a:ext>
              </a:extLst>
            </p:cNvPr>
            <p:cNvSpPr/>
            <p:nvPr/>
          </p:nvSpPr>
          <p:spPr>
            <a:xfrm>
              <a:off x="8893676" y="881732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8ACE1E4A-A4FD-F0E6-6658-1AC7C63FF5B8}"/>
                </a:ext>
              </a:extLst>
            </p:cNvPr>
            <p:cNvSpPr/>
            <p:nvPr/>
          </p:nvSpPr>
          <p:spPr>
            <a:xfrm>
              <a:off x="6885174" y="4176072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FA6F8918-6741-6DD6-E7E0-FFF79BA66EA5}"/>
                </a:ext>
              </a:extLst>
            </p:cNvPr>
            <p:cNvSpPr/>
            <p:nvPr/>
          </p:nvSpPr>
          <p:spPr>
            <a:xfrm>
              <a:off x="7884251" y="4722699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EA3444AA-6C53-EAF0-CA6F-12F563DAF1CA}"/>
                </a:ext>
              </a:extLst>
            </p:cNvPr>
            <p:cNvSpPr/>
            <p:nvPr/>
          </p:nvSpPr>
          <p:spPr>
            <a:xfrm>
              <a:off x="7887215" y="3624378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8F90A52B-E59C-4DB5-989C-DE936367A831}"/>
                </a:ext>
              </a:extLst>
            </p:cNvPr>
            <p:cNvSpPr/>
            <p:nvPr/>
          </p:nvSpPr>
          <p:spPr>
            <a:xfrm>
              <a:off x="7890162" y="2528590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FB63C186-4911-A664-4530-C98A4642ECA1}"/>
                </a:ext>
              </a:extLst>
            </p:cNvPr>
            <p:cNvSpPr/>
            <p:nvPr/>
          </p:nvSpPr>
          <p:spPr>
            <a:xfrm>
              <a:off x="7881833" y="1426424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6161B8E9-87CA-F503-1C88-22FAC8B35590}"/>
                </a:ext>
              </a:extLst>
            </p:cNvPr>
            <p:cNvSpPr/>
            <p:nvPr/>
          </p:nvSpPr>
          <p:spPr>
            <a:xfrm>
              <a:off x="6885177" y="3077751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693EB80C-0A2F-72CB-E7DC-2AEBD181211B}"/>
                </a:ext>
              </a:extLst>
            </p:cNvPr>
            <p:cNvSpPr/>
            <p:nvPr/>
          </p:nvSpPr>
          <p:spPr>
            <a:xfrm>
              <a:off x="6885176" y="878658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5DA8DD6B-ED05-141D-96E1-DC6FBD495915}"/>
                </a:ext>
              </a:extLst>
            </p:cNvPr>
            <p:cNvSpPr/>
            <p:nvPr/>
          </p:nvSpPr>
          <p:spPr>
            <a:xfrm>
              <a:off x="6885174" y="5274393"/>
              <a:ext cx="1278075" cy="109832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hape 1">
            <a:extLst>
              <a:ext uri="{FF2B5EF4-FFF2-40B4-BE49-F238E27FC236}">
                <a16:creationId xmlns:a16="http://schemas.microsoft.com/office/drawing/2014/main" id="{96B1CE71-6557-7868-2273-187A97F858BB}"/>
              </a:ext>
            </a:extLst>
          </p:cNvPr>
          <p:cNvSpPr/>
          <p:nvPr/>
        </p:nvSpPr>
        <p:spPr>
          <a:xfrm>
            <a:off x="291863" y="934060"/>
            <a:ext cx="886778" cy="911154"/>
          </a:xfrm>
          <a:prstGeom prst="roundRect">
            <a:avLst>
              <a:gd name="adj" fmla="val 36000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828AE2C-CDC7-0BCC-0101-3F2BE52F2A69}"/>
              </a:ext>
            </a:extLst>
          </p:cNvPr>
          <p:cNvSpPr/>
          <p:nvPr/>
        </p:nvSpPr>
        <p:spPr>
          <a:xfrm>
            <a:off x="568922" y="1334960"/>
            <a:ext cx="332542" cy="28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FFFCB8D-AB71-476E-A13A-FA902A8C709B}"/>
              </a:ext>
            </a:extLst>
          </p:cNvPr>
          <p:cNvSpPr/>
          <p:nvPr/>
        </p:nvSpPr>
        <p:spPr>
          <a:xfrm>
            <a:off x="1378084" y="94869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Xây dựng mô hình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8DEBA76-7F81-190E-78BD-D7423E215238}"/>
              </a:ext>
            </a:extLst>
          </p:cNvPr>
          <p:cNvSpPr/>
          <p:nvPr/>
        </p:nvSpPr>
        <p:spPr>
          <a:xfrm>
            <a:off x="1378084" y="1428162"/>
            <a:ext cx="6483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Phát triển ARIMA và LSTM để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dự báo.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3B51C8B2-A62A-DD4D-B241-04C08FE6451B}"/>
              </a:ext>
            </a:extLst>
          </p:cNvPr>
          <p:cNvSpPr/>
          <p:nvPr/>
        </p:nvSpPr>
        <p:spPr>
          <a:xfrm>
            <a:off x="291863" y="2456102"/>
            <a:ext cx="886778" cy="911154"/>
          </a:xfrm>
          <a:prstGeom prst="roundRect">
            <a:avLst>
              <a:gd name="adj" fmla="val 36000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B7B376B-FEFD-99F9-4D2B-689146D40C4C}"/>
              </a:ext>
            </a:extLst>
          </p:cNvPr>
          <p:cNvSpPr/>
          <p:nvPr/>
        </p:nvSpPr>
        <p:spPr>
          <a:xfrm>
            <a:off x="629603" y="2857002"/>
            <a:ext cx="332542" cy="28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32E1BCE-C9A2-8D2C-A696-ADC2F5BF089E}"/>
              </a:ext>
            </a:extLst>
          </p:cNvPr>
          <p:cNvSpPr/>
          <p:nvPr/>
        </p:nvSpPr>
        <p:spPr>
          <a:xfrm>
            <a:off x="1378084" y="250055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Dự báo biến số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15B4C09-55CD-6B3E-2D13-4EDA3E8F22DE}"/>
              </a:ext>
            </a:extLst>
          </p:cNvPr>
          <p:cNvSpPr/>
          <p:nvPr/>
        </p:nvSpPr>
        <p:spPr>
          <a:xfrm>
            <a:off x="1378084" y="2980023"/>
            <a:ext cx="6483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Tập trung vào nhiệt độ và lượng mưa.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51B201F-4F94-349B-2632-2C49876D0D5D}"/>
              </a:ext>
            </a:extLst>
          </p:cNvPr>
          <p:cNvSpPr/>
          <p:nvPr/>
        </p:nvSpPr>
        <p:spPr>
          <a:xfrm>
            <a:off x="291863" y="3975417"/>
            <a:ext cx="886778" cy="911154"/>
          </a:xfrm>
          <a:prstGeom prst="roundRect">
            <a:avLst>
              <a:gd name="adj" fmla="val 36000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B437210-3BEC-ED68-CC71-C4C9E541F2C9}"/>
              </a:ext>
            </a:extLst>
          </p:cNvPr>
          <p:cNvSpPr/>
          <p:nvPr/>
        </p:nvSpPr>
        <p:spPr>
          <a:xfrm>
            <a:off x="629603" y="4372720"/>
            <a:ext cx="332542" cy="28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3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08E34CD8-4BF8-1770-0EAA-D81B95A793D4}"/>
              </a:ext>
            </a:extLst>
          </p:cNvPr>
          <p:cNvSpPr/>
          <p:nvPr/>
        </p:nvSpPr>
        <p:spPr>
          <a:xfrm>
            <a:off x="1378084" y="4052419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Đánh giá hiệu năng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74225A8-9E68-6204-25F6-9E885D869F98}"/>
              </a:ext>
            </a:extLst>
          </p:cNvPr>
          <p:cNvSpPr/>
          <p:nvPr/>
        </p:nvSpPr>
        <p:spPr>
          <a:xfrm>
            <a:off x="1378084" y="4531884"/>
            <a:ext cx="6483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Dùng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RMSE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, MAE, MAPE để so sánh.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9DDFBA2B-C72F-FA2B-07C9-2D94D6A5447F}"/>
              </a:ext>
            </a:extLst>
          </p:cNvPr>
          <p:cNvSpPr/>
          <p:nvPr/>
        </p:nvSpPr>
        <p:spPr>
          <a:xfrm>
            <a:off x="291863" y="5494732"/>
            <a:ext cx="886778" cy="911154"/>
          </a:xfrm>
          <a:prstGeom prst="roundRect">
            <a:avLst>
              <a:gd name="adj" fmla="val 36000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498C66D-ADC2-FBF1-1305-B715EF53236F}"/>
              </a:ext>
            </a:extLst>
          </p:cNvPr>
          <p:cNvSpPr/>
          <p:nvPr/>
        </p:nvSpPr>
        <p:spPr>
          <a:xfrm>
            <a:off x="568922" y="5895632"/>
            <a:ext cx="332542" cy="28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4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B8045AF0-F619-506C-28DD-2FFAF39B66A6}"/>
              </a:ext>
            </a:extLst>
          </p:cNvPr>
          <p:cNvSpPr/>
          <p:nvPr/>
        </p:nvSpPr>
        <p:spPr>
          <a:xfrm>
            <a:off x="1378084" y="5604279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Trực quan hóa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D33DEB6F-8FCC-283E-54C7-1AAC90106361}"/>
              </a:ext>
            </a:extLst>
          </p:cNvPr>
          <p:cNvSpPr/>
          <p:nvPr/>
        </p:nvSpPr>
        <p:spPr>
          <a:xfrm>
            <a:off x="1378084" y="6083744"/>
            <a:ext cx="6483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Hiển thị kết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quả một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cách sinh động.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36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BE4F5-6859-8087-B96A-88F7328E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AC5FE683-F1C1-6F32-A1FE-BC1733CAB333}"/>
              </a:ext>
            </a:extLst>
          </p:cNvPr>
          <p:cNvSpPr/>
          <p:nvPr/>
        </p:nvSpPr>
        <p:spPr>
          <a:xfrm rot="14311189">
            <a:off x="10305051" y="161725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02E8D-4F4F-6E54-DBC1-AB8C72EF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 BÀI TOÁN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812E606-AA8B-8939-B3AE-44D228D5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228"/>
            <a:ext cx="9352721" cy="293771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7FF7CD-1A58-47E2-320C-21C7C07FEF51}"/>
              </a:ext>
            </a:extLst>
          </p:cNvPr>
          <p:cNvSpPr/>
          <p:nvPr/>
        </p:nvSpPr>
        <p:spPr>
          <a:xfrm>
            <a:off x="1419639" y="1503218"/>
            <a:ext cx="9352721" cy="3851564"/>
          </a:xfrm>
          <a:prstGeom prst="roundRect">
            <a:avLst>
              <a:gd name="adj" fmla="val 318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16198AB2-8E0C-D0CF-F790-6AD87AC0AABB}"/>
              </a:ext>
            </a:extLst>
          </p:cNvPr>
          <p:cNvSpPr/>
          <p:nvPr/>
        </p:nvSpPr>
        <p:spPr>
          <a:xfrm>
            <a:off x="1739196" y="1782113"/>
            <a:ext cx="3828270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Bài toán chuỗi thời gian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ADF09ACF-EF01-D889-9DEE-2BF3350E8162}"/>
              </a:ext>
            </a:extLst>
          </p:cNvPr>
          <p:cNvSpPr/>
          <p:nvPr/>
        </p:nvSpPr>
        <p:spPr>
          <a:xfrm>
            <a:off x="1719716" y="2422188"/>
            <a:ext cx="4105465" cy="86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Dự đoán dựa trên dữ liệu chuỗi thời gian đa biến.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8EAC2700-6C3D-B2D8-6310-5C971349EBC9}"/>
              </a:ext>
            </a:extLst>
          </p:cNvPr>
          <p:cNvSpPr/>
          <p:nvPr/>
        </p:nvSpPr>
        <p:spPr>
          <a:xfrm>
            <a:off x="6094778" y="1782113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ACC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E37A518-ECE8-EBD1-2B2A-F7780F78F2C9}"/>
              </a:ext>
            </a:extLst>
          </p:cNvPr>
          <p:cNvSpPr/>
          <p:nvPr/>
        </p:nvSpPr>
        <p:spPr>
          <a:xfrm>
            <a:off x="6479452" y="1777157"/>
            <a:ext cx="3509222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Dữ liệu khí tượng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703FB61E-173F-393B-7A61-93137EF14645}"/>
              </a:ext>
            </a:extLst>
          </p:cNvPr>
          <p:cNvSpPr/>
          <p:nvPr/>
        </p:nvSpPr>
        <p:spPr>
          <a:xfrm>
            <a:off x="6645326" y="2422188"/>
            <a:ext cx="4105465" cy="86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Tập trung vào khu vực Miền Bắc Việt Nam.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14701DEF-9C71-1658-27A1-8099E6A97F6E}"/>
              </a:ext>
            </a:extLst>
          </p:cNvPr>
          <p:cNvSpPr/>
          <p:nvPr/>
        </p:nvSpPr>
        <p:spPr>
          <a:xfrm>
            <a:off x="1719716" y="3424535"/>
            <a:ext cx="8623153" cy="45719"/>
          </a:xfrm>
          <a:prstGeom prst="roundRect">
            <a:avLst>
              <a:gd name="adj" fmla="val 312558"/>
            </a:avLst>
          </a:prstGeom>
          <a:solidFill>
            <a:srgbClr val="BACC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B2C8B1C-2307-4772-3E2C-7FD360A9B209}"/>
              </a:ext>
            </a:extLst>
          </p:cNvPr>
          <p:cNvSpPr/>
          <p:nvPr/>
        </p:nvSpPr>
        <p:spPr>
          <a:xfrm>
            <a:off x="4836138" y="3695703"/>
            <a:ext cx="3509222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Dự báo ngắn hạn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48E483BE-CA36-017A-88D0-820F588B0F77}"/>
              </a:ext>
            </a:extLst>
          </p:cNvPr>
          <p:cNvSpPr/>
          <p:nvPr/>
        </p:nvSpPr>
        <p:spPr>
          <a:xfrm>
            <a:off x="3772448" y="4399127"/>
            <a:ext cx="5740051" cy="4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Khung thời gian dự báo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từ 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1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đến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7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ngày.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A3798C71-8D9A-7650-08FA-AF9041BE6DC7}"/>
              </a:ext>
            </a:extLst>
          </p:cNvPr>
          <p:cNvSpPr/>
          <p:nvPr/>
        </p:nvSpPr>
        <p:spPr>
          <a:xfrm rot="14311189">
            <a:off x="10261374" y="4807688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E1CFC72-DAE5-AA31-E0A9-B53443E21873}"/>
              </a:ext>
            </a:extLst>
          </p:cNvPr>
          <p:cNvSpPr/>
          <p:nvPr/>
        </p:nvSpPr>
        <p:spPr>
          <a:xfrm rot="14311189">
            <a:off x="10207302" y="185646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5EAA014-8730-1908-1BEC-AFF89C260C78}"/>
              </a:ext>
            </a:extLst>
          </p:cNvPr>
          <p:cNvSpPr/>
          <p:nvPr/>
        </p:nvSpPr>
        <p:spPr>
          <a:xfrm rot="14311189">
            <a:off x="10309521" y="4462117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8B2C306C-53F0-D424-2F21-B84DED8EDEAC}"/>
              </a:ext>
            </a:extLst>
          </p:cNvPr>
          <p:cNvSpPr/>
          <p:nvPr/>
        </p:nvSpPr>
        <p:spPr>
          <a:xfrm rot="7844171">
            <a:off x="1137939" y="4949543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0473452C-B2D8-B7C5-ABDE-DB25F20F49A6}"/>
              </a:ext>
            </a:extLst>
          </p:cNvPr>
          <p:cNvSpPr/>
          <p:nvPr/>
        </p:nvSpPr>
        <p:spPr>
          <a:xfrm rot="7844171">
            <a:off x="1186086" y="4603972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0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D1C8-C402-F56F-CEB8-3B4FE136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F834C9CB-C816-DCF8-DEE0-673CB2D35242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4AA150AD-0521-419A-5840-973AF042F309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987635FE-2181-E5AA-2F66-DF9DEFB6C79F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E578148A-350D-DBD2-A978-2C89434EC08A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7831B93D-8720-9C29-E2FB-4444E1EF7E37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4D844E6-B906-EB99-0989-033EECF4048D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C628089-15A1-F53B-5A62-079E125CE8C8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EC353AD-8ED8-E4D7-3D15-91B25277A0E5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B8E9F24-C491-4044-4FF3-263FD327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CEE23-562E-FC11-CE17-451DD326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F958ED1-6BEC-6EB7-710F-0F3A073B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EC98181-FBC9-D8CC-7370-1872B7EF060A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1CECBA71-CC73-9428-3E36-138898F1B814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FE7BEB3F-9137-C490-67B3-DB03F2E96A27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05416C9-1048-2E81-C2E4-3CFF6B48AB66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D573DD89-2B8B-DAB3-37AC-8298E27C72BE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4D8698E2-863B-22FA-5765-C2E55DD26CBE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F2CDE4F9-2FDF-5EE4-2B81-67EE9E803165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E5A740F-BC38-92A3-E8FC-5DF80832C7D3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0727375-3C70-F8C7-51A0-004BBE8B76E7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E65B9B0F-AEF6-FEC9-6E5A-C1AB4F165791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B6315BA9-A1EF-9B0D-98F6-210AAD16BBAD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9F0F33A0-4C3E-59DF-857C-0BFF85C3E9B1}"/>
              </a:ext>
            </a:extLst>
          </p:cNvPr>
          <p:cNvSpPr/>
          <p:nvPr/>
        </p:nvSpPr>
        <p:spPr>
          <a:xfrm>
            <a:off x="4867261" y="4700833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EFFD84-A951-A709-AC2E-CD0F89CEC0FC}"/>
              </a:ext>
            </a:extLst>
          </p:cNvPr>
          <p:cNvSpPr txBox="1"/>
          <p:nvPr/>
        </p:nvSpPr>
        <p:spPr>
          <a:xfrm>
            <a:off x="5107607" y="4927052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BA7E6B-6F52-7881-DDDB-D3A7745ACA3F}"/>
              </a:ext>
            </a:extLst>
          </p:cNvPr>
          <p:cNvSpPr txBox="1"/>
          <p:nvPr/>
        </p:nvSpPr>
        <p:spPr>
          <a:xfrm>
            <a:off x="4166962" y="-1942501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BF12E32-91FD-7FDC-89D1-CC6B296CF04F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BA8516-BEF6-3754-C39A-76859884522F}"/>
              </a:ext>
            </a:extLst>
          </p:cNvPr>
          <p:cNvSpPr txBox="1"/>
          <p:nvPr/>
        </p:nvSpPr>
        <p:spPr>
          <a:xfrm>
            <a:off x="12996010" y="1073809"/>
            <a:ext cx="6188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LÝ THUYẾT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26502B0C-D37D-D662-FB2E-2A5DEB220EC8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3F10CFE-0C2E-5F80-A3F7-24EA03A58CD4}"/>
              </a:ext>
            </a:extLst>
          </p:cNvPr>
          <p:cNvSpPr txBox="1"/>
          <p:nvPr/>
        </p:nvSpPr>
        <p:spPr>
          <a:xfrm>
            <a:off x="14002958" y="5005596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Công cụ triển khai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94CEA6D-F6C0-3047-1972-3B6FDD6B8D51}"/>
              </a:ext>
            </a:extLst>
          </p:cNvPr>
          <p:cNvCxnSpPr>
            <a:cxnSpLocks/>
          </p:cNvCxnSpPr>
          <p:nvPr/>
        </p:nvCxnSpPr>
        <p:spPr>
          <a:xfrm>
            <a:off x="5874209" y="5518679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5BA050A7-BD0C-AD55-2E33-063489AC2633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5ACBD85D-35A3-2132-21DD-B406F8EE6B52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F300BEB1-263D-A30A-92AA-49D0AD592DB7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0845EF4-CE80-C318-ED4A-6FC86D60898C}"/>
              </a:ext>
            </a:extLst>
          </p:cNvPr>
          <p:cNvSpPr/>
          <p:nvPr/>
        </p:nvSpPr>
        <p:spPr>
          <a:xfrm>
            <a:off x="4867261" y="3396889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B22E7-B041-0A72-5783-F62815CB2BBF}"/>
              </a:ext>
            </a:extLst>
          </p:cNvPr>
          <p:cNvSpPr txBox="1"/>
          <p:nvPr/>
        </p:nvSpPr>
        <p:spPr>
          <a:xfrm>
            <a:off x="5107607" y="3623108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80E9E-EE5A-E528-D9D1-25DB62558478}"/>
              </a:ext>
            </a:extLst>
          </p:cNvPr>
          <p:cNvSpPr txBox="1"/>
          <p:nvPr/>
        </p:nvSpPr>
        <p:spPr>
          <a:xfrm>
            <a:off x="13968400" y="3711832"/>
            <a:ext cx="6188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Huấn luyện mô hình ARIMA &amp; LSTM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64A33F-2905-63D9-436E-E7B7DAF57AB7}"/>
              </a:ext>
            </a:extLst>
          </p:cNvPr>
          <p:cNvCxnSpPr>
            <a:cxnSpLocks/>
          </p:cNvCxnSpPr>
          <p:nvPr/>
        </p:nvCxnSpPr>
        <p:spPr>
          <a:xfrm>
            <a:off x="5874209" y="4214735"/>
            <a:ext cx="6154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E982A2DF-4FF8-ADC9-8766-755922B4499B}"/>
              </a:ext>
            </a:extLst>
          </p:cNvPr>
          <p:cNvSpPr/>
          <p:nvPr/>
        </p:nvSpPr>
        <p:spPr>
          <a:xfrm>
            <a:off x="4896800" y="2086593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774599-F44E-2431-8EE8-E72D7AF31A4F}"/>
              </a:ext>
            </a:extLst>
          </p:cNvPr>
          <p:cNvSpPr txBox="1"/>
          <p:nvPr/>
        </p:nvSpPr>
        <p:spPr>
          <a:xfrm>
            <a:off x="5137146" y="2312812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C57D63-B06E-09A6-9FA7-EFA62B2686E9}"/>
              </a:ext>
            </a:extLst>
          </p:cNvPr>
          <p:cNvSpPr txBox="1"/>
          <p:nvPr/>
        </p:nvSpPr>
        <p:spPr>
          <a:xfrm>
            <a:off x="14032497" y="2391356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 dữ liệu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8CA7A5-6AFD-F623-AB80-8F781B5DEA5C}"/>
              </a:ext>
            </a:extLst>
          </p:cNvPr>
          <p:cNvCxnSpPr>
            <a:cxnSpLocks/>
          </p:cNvCxnSpPr>
          <p:nvPr/>
        </p:nvCxnSpPr>
        <p:spPr>
          <a:xfrm>
            <a:off x="5903748" y="2904439"/>
            <a:ext cx="32247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6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DBA5-1088-BB43-4851-FE0F24FB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D08C0181-C789-AF58-CB34-222934A94CEC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8E3D327E-0E80-56E2-25F0-05416DD98EAF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C4E304EA-B5F7-364E-C3D0-C97A076A76DC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7E9788D8-0E24-19C6-A735-71D5CACC0EE9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C3429968-6DA1-3763-A8D2-DFB19420CE82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2262798A-CBF4-F654-D1C8-984BC9AEFA3C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1BA33A4-4191-FF85-638E-2833218480BF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30594FE-D4A8-D6BD-D265-D50AD3C1AEF9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E67868-0314-D0CC-2D3B-C21C9503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ED040-29DA-B333-9A19-C8634674B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AD04D77-1073-E629-925B-444EC6EC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CF395C3-C562-46E0-F19F-A25791EA2565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0EF8D87-CB70-F05E-957D-CADD57EEFAC4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3DF2B1D-0328-AB67-DE06-E18760D5B36E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FA79492-4090-3B76-896F-B5A5EB98DEB8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C366DAAD-79E4-709D-27A1-C371DB754503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EBC8905-B4A4-131F-5D93-967FCAAB6F7D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3924EA65-A562-ACA3-C1CB-EB575A445073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8503D54-32A1-EE2C-5956-7E1D401BA7C5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56DACD1-E208-DDA9-72D0-B9CAF0776439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27B6C58C-B4A1-61BE-13C9-7619489DA7AF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341F261-A830-8A59-F625-E24AAFDEE834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AF11E47D-1809-8F18-C233-09B3AC1113CC}"/>
              </a:ext>
            </a:extLst>
          </p:cNvPr>
          <p:cNvSpPr/>
          <p:nvPr/>
        </p:nvSpPr>
        <p:spPr>
          <a:xfrm>
            <a:off x="4867261" y="4700833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6790E5-826C-5517-0E94-16A35C4FE5EC}"/>
              </a:ext>
            </a:extLst>
          </p:cNvPr>
          <p:cNvSpPr txBox="1"/>
          <p:nvPr/>
        </p:nvSpPr>
        <p:spPr>
          <a:xfrm>
            <a:off x="5107607" y="4927052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5F2083-B882-16EA-A40A-7F01FA0DEDFC}"/>
              </a:ext>
            </a:extLst>
          </p:cNvPr>
          <p:cNvSpPr txBox="1"/>
          <p:nvPr/>
        </p:nvSpPr>
        <p:spPr>
          <a:xfrm>
            <a:off x="4200401" y="564848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073DBCF-2C61-F81A-4894-95D27BA390F5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EA9995-7346-3346-E324-FCE49D4E6F74}"/>
              </a:ext>
            </a:extLst>
          </p:cNvPr>
          <p:cNvSpPr txBox="1"/>
          <p:nvPr/>
        </p:nvSpPr>
        <p:spPr>
          <a:xfrm>
            <a:off x="4867261" y="908106"/>
            <a:ext cx="6188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LÝ THUYẾT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0AD5EF3C-2CEE-ADE8-1A2B-65D1DC689C51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82840C-2D5C-E534-622A-60C43892A310}"/>
              </a:ext>
            </a:extLst>
          </p:cNvPr>
          <p:cNvSpPr txBox="1"/>
          <p:nvPr/>
        </p:nvSpPr>
        <p:spPr>
          <a:xfrm>
            <a:off x="5874209" y="4839893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Công cụ triển khai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9741A78-4A96-93D5-1EEC-EB42B96BE321}"/>
              </a:ext>
            </a:extLst>
          </p:cNvPr>
          <p:cNvCxnSpPr>
            <a:cxnSpLocks/>
          </p:cNvCxnSpPr>
          <p:nvPr/>
        </p:nvCxnSpPr>
        <p:spPr>
          <a:xfrm>
            <a:off x="5874209" y="5518679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E7022D90-F15F-57A9-E370-2BA70D6A1031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2C81F39D-5785-0822-EFC5-57EF9F4894AE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94AC88E3-1BC5-153B-D419-6415479F4E40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BB2DD42-80AD-3BCA-9B1A-1D98E18FE114}"/>
              </a:ext>
            </a:extLst>
          </p:cNvPr>
          <p:cNvSpPr/>
          <p:nvPr/>
        </p:nvSpPr>
        <p:spPr>
          <a:xfrm>
            <a:off x="4867261" y="3396889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1AB30-E255-63CF-5578-19A9E77B51F3}"/>
              </a:ext>
            </a:extLst>
          </p:cNvPr>
          <p:cNvSpPr txBox="1"/>
          <p:nvPr/>
        </p:nvSpPr>
        <p:spPr>
          <a:xfrm>
            <a:off x="5107607" y="3623108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45DBF-6E80-6F6C-3568-F5184CC1E723}"/>
              </a:ext>
            </a:extLst>
          </p:cNvPr>
          <p:cNvSpPr txBox="1"/>
          <p:nvPr/>
        </p:nvSpPr>
        <p:spPr>
          <a:xfrm>
            <a:off x="5839651" y="3546129"/>
            <a:ext cx="6188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Huấn luyện mô hình ARIMA &amp; LSTM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3B7EA4-07F7-E623-007A-1A2C109C5F2E}"/>
              </a:ext>
            </a:extLst>
          </p:cNvPr>
          <p:cNvCxnSpPr>
            <a:cxnSpLocks/>
          </p:cNvCxnSpPr>
          <p:nvPr/>
        </p:nvCxnSpPr>
        <p:spPr>
          <a:xfrm>
            <a:off x="5874209" y="4214735"/>
            <a:ext cx="6154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D21015A-92AF-63F6-A7B6-F9C1C513B7D0}"/>
              </a:ext>
            </a:extLst>
          </p:cNvPr>
          <p:cNvSpPr/>
          <p:nvPr/>
        </p:nvSpPr>
        <p:spPr>
          <a:xfrm>
            <a:off x="4896800" y="2086593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B13972-56A5-54BC-50FC-8861DF2F963D}"/>
              </a:ext>
            </a:extLst>
          </p:cNvPr>
          <p:cNvSpPr txBox="1"/>
          <p:nvPr/>
        </p:nvSpPr>
        <p:spPr>
          <a:xfrm>
            <a:off x="5137146" y="2312812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C3BB30-FBC5-0C7E-43A2-9A3F6C7ADCAF}"/>
              </a:ext>
            </a:extLst>
          </p:cNvPr>
          <p:cNvSpPr txBox="1"/>
          <p:nvPr/>
        </p:nvSpPr>
        <p:spPr>
          <a:xfrm>
            <a:off x="5903748" y="2225653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 dữ liệu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61ADDA-D9D3-C795-8F85-40512A5DD9A2}"/>
              </a:ext>
            </a:extLst>
          </p:cNvPr>
          <p:cNvCxnSpPr>
            <a:cxnSpLocks/>
          </p:cNvCxnSpPr>
          <p:nvPr/>
        </p:nvCxnSpPr>
        <p:spPr>
          <a:xfrm>
            <a:off x="5903748" y="2904439"/>
            <a:ext cx="32247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49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C1F5-F4B5-419E-BE7D-44F6A13C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EC0D-5A8A-434E-DDC8-C31D7224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 DỮ LIỆU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50DAC-38C8-C502-FEFE-2B3C8BFF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DBCD3AD-E24B-41AA-4939-3CF9B064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25188"/>
            <a:ext cx="9352721" cy="293772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ADFFE2BC-47A9-B6F4-D259-8E943C32DFFF}"/>
              </a:ext>
            </a:extLst>
          </p:cNvPr>
          <p:cNvSpPr/>
          <p:nvPr/>
        </p:nvSpPr>
        <p:spPr>
          <a:xfrm>
            <a:off x="153124" y="1107630"/>
            <a:ext cx="3530216" cy="4936092"/>
          </a:xfrm>
          <a:prstGeom prst="roundRect">
            <a:avLst>
              <a:gd name="adj" fmla="val 322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B9ABF670-B83F-09C1-8C32-DE3A4F6D08E6}"/>
              </a:ext>
            </a:extLst>
          </p:cNvPr>
          <p:cNvSpPr/>
          <p:nvPr/>
        </p:nvSpPr>
        <p:spPr>
          <a:xfrm>
            <a:off x="1540202" y="12325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362D2469-BBF5-FFE6-1126-399FCFD39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368" y="1419575"/>
            <a:ext cx="306110" cy="306110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B39B9285-B7A2-57B7-B4B6-D54674652CE7}"/>
              </a:ext>
            </a:extLst>
          </p:cNvPr>
          <p:cNvSpPr/>
          <p:nvPr/>
        </p:nvSpPr>
        <p:spPr>
          <a:xfrm>
            <a:off x="-318113" y="2593371"/>
            <a:ext cx="4472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Xử lý Missing Value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7DAD7261-1113-3114-1AAD-4E098A4415CF}"/>
              </a:ext>
            </a:extLst>
          </p:cNvPr>
          <p:cNvSpPr/>
          <p:nvPr/>
        </p:nvSpPr>
        <p:spPr>
          <a:xfrm>
            <a:off x="257432" y="3549225"/>
            <a:ext cx="3321598" cy="182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Điền hoặc loại bỏ các giá trị bị thiếu trong tập dữ liệu.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0D7AD3C1-D462-E2BE-7470-B3D2FF4F9F5C}"/>
              </a:ext>
            </a:extLst>
          </p:cNvPr>
          <p:cNvSpPr/>
          <p:nvPr/>
        </p:nvSpPr>
        <p:spPr>
          <a:xfrm>
            <a:off x="3839646" y="1107630"/>
            <a:ext cx="4144446" cy="4936092"/>
          </a:xfrm>
          <a:prstGeom prst="roundRect">
            <a:avLst>
              <a:gd name="adj" fmla="val 322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C1345A7-BC22-BD80-FD21-553419C8C2B7}"/>
              </a:ext>
            </a:extLst>
          </p:cNvPr>
          <p:cNvSpPr/>
          <p:nvPr/>
        </p:nvSpPr>
        <p:spPr>
          <a:xfrm>
            <a:off x="3866565" y="2593252"/>
            <a:ext cx="4182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Kiểm tra Tính dừng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14701C8-EDEF-CF94-DC80-F84DB2B6F97B}"/>
              </a:ext>
            </a:extLst>
          </p:cNvPr>
          <p:cNvSpPr/>
          <p:nvPr/>
        </p:nvSpPr>
        <p:spPr>
          <a:xfrm>
            <a:off x="3839645" y="3537263"/>
            <a:ext cx="4144445" cy="153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Đảm bảo chuỗi thời gian có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tính dừng để áp dụng mô hình.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40380FE5-85F7-A2D3-8B29-4FD87EAFCB49}"/>
              </a:ext>
            </a:extLst>
          </p:cNvPr>
          <p:cNvSpPr/>
          <p:nvPr/>
        </p:nvSpPr>
        <p:spPr>
          <a:xfrm>
            <a:off x="8240936" y="1107630"/>
            <a:ext cx="3797940" cy="4936092"/>
          </a:xfrm>
          <a:prstGeom prst="roundRect">
            <a:avLst>
              <a:gd name="adj" fmla="val 3224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D262C032-207A-12B6-65E7-540903824D7A}"/>
              </a:ext>
            </a:extLst>
          </p:cNvPr>
          <p:cNvSpPr/>
          <p:nvPr/>
        </p:nvSpPr>
        <p:spPr>
          <a:xfrm>
            <a:off x="9828379" y="1232528"/>
            <a:ext cx="636253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352FC3BC-9BE1-4A51-29B1-F7997279A040}"/>
              </a:ext>
            </a:extLst>
          </p:cNvPr>
          <p:cNvSpPr/>
          <p:nvPr/>
        </p:nvSpPr>
        <p:spPr>
          <a:xfrm>
            <a:off x="8220463" y="2593252"/>
            <a:ext cx="4182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MinMaxScaler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9A575291-B858-85AA-4271-49E3146245C3}"/>
              </a:ext>
            </a:extLst>
          </p:cNvPr>
          <p:cNvSpPr/>
          <p:nvPr/>
        </p:nvSpPr>
        <p:spPr>
          <a:xfrm>
            <a:off x="8307920" y="3549225"/>
            <a:ext cx="3797939" cy="153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Đưa dữ liệu về cùng một khoảng giá trị, tăng hiệu suất mô hình.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EB47504C-4E04-C7F1-0F39-67E0A527D0D6}"/>
              </a:ext>
            </a:extLst>
          </p:cNvPr>
          <p:cNvSpPr/>
          <p:nvPr/>
        </p:nvSpPr>
        <p:spPr>
          <a:xfrm>
            <a:off x="5571646" y="12324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DDCB63C3-539C-A75E-39E2-639A1F664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8812" y="1394827"/>
            <a:ext cx="306110" cy="306110"/>
          </a:xfrm>
          <a:prstGeom prst="rect">
            <a:avLst/>
          </a:prstGeom>
        </p:spPr>
      </p:pic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93C41D5A-F9A7-2092-4A4A-8838D16625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6851" y="1394827"/>
            <a:ext cx="306110" cy="3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61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2ABC-0DC9-E1D8-F6E6-44A80140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BD6B-4630-F02B-33C1-2329B08C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HUẤN LUYỆN MÔ HÌNH ARIMA &amp; LSTM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7D878-5D83-22D5-BB35-DA2468B8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8D001D3-FD36-5A96-D547-1412416F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228"/>
            <a:ext cx="9352721" cy="293772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77A6BB9-C1EC-69F0-4D1C-BD345CF910D9}"/>
              </a:ext>
            </a:extLst>
          </p:cNvPr>
          <p:cNvSpPr/>
          <p:nvPr/>
        </p:nvSpPr>
        <p:spPr>
          <a:xfrm>
            <a:off x="600313" y="1436489"/>
            <a:ext cx="257306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Mô hình ARIMA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7650142-64C6-5BD9-2577-4C114368123F}"/>
              </a:ext>
            </a:extLst>
          </p:cNvPr>
          <p:cNvSpPr/>
          <p:nvPr/>
        </p:nvSpPr>
        <p:spPr>
          <a:xfrm>
            <a:off x="600313" y="1929527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Mô hình thống kê truyền thống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3489828-AA28-855D-3451-B297F30C7A31}"/>
              </a:ext>
            </a:extLst>
          </p:cNvPr>
          <p:cNvSpPr/>
          <p:nvPr/>
        </p:nvSpPr>
        <p:spPr>
          <a:xfrm>
            <a:off x="598711" y="2401191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Phù hợp cho chuỗi tuyến tính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35E1DD3-CD03-F9C9-BD8D-654208EE31C4}"/>
              </a:ext>
            </a:extLst>
          </p:cNvPr>
          <p:cNvSpPr/>
          <p:nvPr/>
        </p:nvSpPr>
        <p:spPr>
          <a:xfrm>
            <a:off x="600313" y="2846486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Dựa trên phương pháp Box–Jenkins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F221AEA-8B41-62A1-DAA1-ABF145419624}"/>
              </a:ext>
            </a:extLst>
          </p:cNvPr>
          <p:cNvSpPr/>
          <p:nvPr/>
        </p:nvSpPr>
        <p:spPr>
          <a:xfrm>
            <a:off x="7532013" y="1436489"/>
            <a:ext cx="257306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Mô hình LSTM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2B02157-B1C9-5EB7-F8C5-ECCE4C87A0BC}"/>
              </a:ext>
            </a:extLst>
          </p:cNvPr>
          <p:cNvSpPr/>
          <p:nvPr/>
        </p:nvSpPr>
        <p:spPr>
          <a:xfrm>
            <a:off x="7532013" y="1929527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Mạng RNN cải tiến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4C0792E-5AD4-5E8E-7AC7-01AA08ACDFE5}"/>
              </a:ext>
            </a:extLst>
          </p:cNvPr>
          <p:cNvSpPr/>
          <p:nvPr/>
        </p:nvSpPr>
        <p:spPr>
          <a:xfrm>
            <a:off x="7532013" y="2401191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Xử lý phụ thuộc dài hạn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8CC98F5-1267-E58D-80B1-04D35823D8D5}"/>
              </a:ext>
            </a:extLst>
          </p:cNvPr>
          <p:cNvSpPr/>
          <p:nvPr/>
        </p:nvSpPr>
        <p:spPr>
          <a:xfrm>
            <a:off x="7532013" y="2845891"/>
            <a:ext cx="650569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Phù hợp dữ liệu phi tuyến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diagram of a seasonal difference&#10;&#10;AI-generated content may be incorrect.">
            <a:extLst>
              <a:ext uri="{FF2B5EF4-FFF2-40B4-BE49-F238E27FC236}">
                <a16:creationId xmlns:a16="http://schemas.microsoft.com/office/drawing/2014/main" id="{8231AECE-16DF-E366-8134-63DBF667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93" y="3429000"/>
            <a:ext cx="4955360" cy="2719499"/>
          </a:xfrm>
          <a:prstGeom prst="rect">
            <a:avLst/>
          </a:prstGeom>
        </p:spPr>
      </p:pic>
      <p:pic>
        <p:nvPicPr>
          <p:cNvPr id="19" name="Picture 18" descr="A diagram of a short-term memory&#10;&#10;AI-generated content may be incorrect.">
            <a:extLst>
              <a:ext uri="{FF2B5EF4-FFF2-40B4-BE49-F238E27FC236}">
                <a16:creationId xmlns:a16="http://schemas.microsoft.com/office/drawing/2014/main" id="{3068C9AC-1C3B-289B-5A7F-719FB3B3AA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055" y="3429000"/>
            <a:ext cx="4201978" cy="2800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518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3833-A572-EA26-356D-3D700B47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1460-DA36-D9E7-068B-EB734FB6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CÔNG CỤ TRIỂN KHAI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B5415-CA4D-483D-4658-F68D5067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E1A3B4B-81E8-A909-D882-0E0B2FD2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57DC165-3B7F-23DE-E191-800E0C2A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7" y="1373253"/>
            <a:ext cx="3710501" cy="824746"/>
          </a:xfrm>
          <a:prstGeom prst="rect">
            <a:avLst/>
          </a:prstGeom>
        </p:spPr>
      </p:pic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A968A2D5-7051-121B-0550-B1D729BE3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04" y="1364531"/>
            <a:ext cx="3710501" cy="824746"/>
          </a:xfrm>
          <a:prstGeom prst="rect">
            <a:avLst/>
          </a:prstGeom>
        </p:spPr>
      </p:pic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F75F5D7A-5A45-9208-09C0-AB9C3944A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09" y="1368892"/>
            <a:ext cx="3710501" cy="824746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ECD8BDDA-5ABD-F3C8-E4ED-D5F60236F55C}"/>
              </a:ext>
            </a:extLst>
          </p:cNvPr>
          <p:cNvSpPr/>
          <p:nvPr/>
        </p:nvSpPr>
        <p:spPr>
          <a:xfrm>
            <a:off x="259696" y="2389227"/>
            <a:ext cx="3710501" cy="2552224"/>
          </a:xfrm>
          <a:prstGeom prst="roundRect">
            <a:avLst>
              <a:gd name="adj" fmla="val 3675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B3D18C-3785-5B55-D0DE-B7A33F5E09A5}"/>
              </a:ext>
            </a:extLst>
          </p:cNvPr>
          <p:cNvSpPr/>
          <p:nvPr/>
        </p:nvSpPr>
        <p:spPr>
          <a:xfrm>
            <a:off x="494131" y="26236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2531FB4-DBA0-5789-CC79-17B96B631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297" y="2810708"/>
            <a:ext cx="306110" cy="30611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78664A4-EA9F-657E-FBBC-3F4A882F788B}"/>
              </a:ext>
            </a:extLst>
          </p:cNvPr>
          <p:cNvSpPr/>
          <p:nvPr/>
        </p:nvSpPr>
        <p:spPr>
          <a:xfrm>
            <a:off x="1361739" y="2810708"/>
            <a:ext cx="22901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Google Colab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056A7C3-235E-18E0-90B1-8045A92F4443}"/>
              </a:ext>
            </a:extLst>
          </p:cNvPr>
          <p:cNvSpPr/>
          <p:nvPr/>
        </p:nvSpPr>
        <p:spPr>
          <a:xfrm>
            <a:off x="266854" y="3775119"/>
            <a:ext cx="36306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Huấn luyện mô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hình </a:t>
            </a: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mạnh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mẽ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0218DE5-83BE-0960-6C82-4814FCFA2261}"/>
              </a:ext>
            </a:extLst>
          </p:cNvPr>
          <p:cNvSpPr/>
          <p:nvPr/>
        </p:nvSpPr>
        <p:spPr>
          <a:xfrm>
            <a:off x="4299504" y="2349103"/>
            <a:ext cx="3710501" cy="2592348"/>
          </a:xfrm>
          <a:prstGeom prst="roundRect">
            <a:avLst>
              <a:gd name="adj" fmla="val 3675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7E3E821-48FD-6CE5-69AB-BD440C4C582D}"/>
              </a:ext>
            </a:extLst>
          </p:cNvPr>
          <p:cNvSpPr/>
          <p:nvPr/>
        </p:nvSpPr>
        <p:spPr>
          <a:xfrm>
            <a:off x="4533938" y="258353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2247B60-D146-F092-6478-9A7C7F446B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104" y="2770584"/>
            <a:ext cx="306110" cy="30611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821AC3C-5225-3554-A5EC-86040109C96E}"/>
              </a:ext>
            </a:extLst>
          </p:cNvPr>
          <p:cNvSpPr/>
          <p:nvPr/>
        </p:nvSpPr>
        <p:spPr>
          <a:xfrm>
            <a:off x="5448814" y="2762488"/>
            <a:ext cx="1568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Power BI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3064B7E-FD36-45FC-12A6-DF5ED1D6F717}"/>
              </a:ext>
            </a:extLst>
          </p:cNvPr>
          <p:cNvSpPr/>
          <p:nvPr/>
        </p:nvSpPr>
        <p:spPr>
          <a:xfrm>
            <a:off x="4556756" y="376464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Dashboard trực quan hóa dữ liệu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2A98627B-FF20-7E10-9B58-C5F604A7DB77}"/>
              </a:ext>
            </a:extLst>
          </p:cNvPr>
          <p:cNvSpPr/>
          <p:nvPr/>
        </p:nvSpPr>
        <p:spPr>
          <a:xfrm>
            <a:off x="8270909" y="2389227"/>
            <a:ext cx="3710501" cy="2552224"/>
          </a:xfrm>
          <a:prstGeom prst="roundRect">
            <a:avLst>
              <a:gd name="adj" fmla="val 427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C7E18E14-170F-80A6-DD4F-1D49EB177BF6}"/>
              </a:ext>
            </a:extLst>
          </p:cNvPr>
          <p:cNvSpPr/>
          <p:nvPr/>
        </p:nvSpPr>
        <p:spPr>
          <a:xfrm>
            <a:off x="8505343" y="26236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E3E8619A-4AD6-A946-3AD6-D6C5856DC9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2509" y="2810708"/>
            <a:ext cx="306110" cy="30611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3F257A31-1C2F-A3D6-3CEE-59FE4EB81B8F}"/>
              </a:ext>
            </a:extLst>
          </p:cNvPr>
          <p:cNvSpPr/>
          <p:nvPr/>
        </p:nvSpPr>
        <p:spPr>
          <a:xfrm>
            <a:off x="9414993" y="2746474"/>
            <a:ext cx="1481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VS Code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18D01794-193B-3BF7-97F6-76F7E5A429DC}"/>
              </a:ext>
            </a:extLst>
          </p:cNvPr>
          <p:cNvSpPr/>
          <p:nvPr/>
        </p:nvSpPr>
        <p:spPr>
          <a:xfrm>
            <a:off x="494131" y="684049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Xây dựng web demo tương tác</a:t>
            </a:r>
            <a:endParaRPr lang="en-US" sz="17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FFDB23-2D94-F82A-1703-C8FA97745597}"/>
              </a:ext>
            </a:extLst>
          </p:cNvPr>
          <p:cNvSpPr txBox="1"/>
          <p:nvPr/>
        </p:nvSpPr>
        <p:spPr>
          <a:xfrm>
            <a:off x="8448972" y="3696858"/>
            <a:ext cx="3476174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Xây dựng web demo tương tác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569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D6851-449B-4BF1-4A02-D1A98D0F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1D804A49-482D-4D42-A561-6854CA0345A3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383D3BC0-8120-A22B-F6CB-6593CC969490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BD484ED7-4F46-181B-1C6C-405D674D0A7F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D2EE4B92-97F3-35E0-ED3B-DE4F0A8DBFC2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61D93ED2-25E6-4937-0A60-F4928567DE9C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7409CFB-5B4C-3675-EDB3-A24EA0F84097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106412C-3067-F638-1E13-5F06CC95A023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9416698-9A68-169D-6404-01CBD04A064B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3202E3C-241D-0845-165B-6C5FA711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215AB-F9F2-5DF8-5E50-DA2B24298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238F2B4-22F8-017D-70D8-EFAB443F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213A666-2D84-9B19-CC45-6B9F6BD2C8A2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3B37951-6126-8854-C651-CE35AC542347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47E234CB-C465-9978-D845-173F29F33A5B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96453D-B963-E6B8-6ED4-EBE6DAA9F5AF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9654D5CF-3FD6-2C8F-2D3A-44612C9D67CC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6F73396-4E09-0328-56A5-33EC8D378269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4EEE73DF-C520-7936-DFE2-004E30466894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C669BD3-1A57-BE3F-9939-CDA3310C4AB7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136B3CF8-A8A6-3996-ED45-39D92EB1839D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6A191D3E-055E-D271-4249-C76287ACBB33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CF5BF7EA-7AEB-4EE2-91C0-C622D6E42902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F35F34A-26F0-1E46-F9CC-B434D440C2B6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C5F316B4-FF0E-8BA5-F5AA-CADE53C83DA0}"/>
              </a:ext>
            </a:extLst>
          </p:cNvPr>
          <p:cNvSpPr/>
          <p:nvPr/>
        </p:nvSpPr>
        <p:spPr>
          <a:xfrm rot="5400000">
            <a:off x="5671285" y="194975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48A52C-F5B3-3A2A-630A-BE459C8B904A}"/>
              </a:ext>
            </a:extLst>
          </p:cNvPr>
          <p:cNvSpPr txBox="1"/>
          <p:nvPr/>
        </p:nvSpPr>
        <p:spPr>
          <a:xfrm>
            <a:off x="5717006" y="205656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EE6C43F7-309E-6DA4-160B-44048759A284}"/>
              </a:ext>
            </a:extLst>
          </p:cNvPr>
          <p:cNvSpPr/>
          <p:nvPr/>
        </p:nvSpPr>
        <p:spPr>
          <a:xfrm rot="5400000">
            <a:off x="5383188" y="285883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D76CB4-F647-49A2-2398-4AFE4F9CA149}"/>
              </a:ext>
            </a:extLst>
          </p:cNvPr>
          <p:cNvSpPr txBox="1"/>
          <p:nvPr/>
        </p:nvSpPr>
        <p:spPr>
          <a:xfrm>
            <a:off x="5428909" y="296564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0DF45836-E240-A705-9A16-45660B4432B9}"/>
              </a:ext>
            </a:extLst>
          </p:cNvPr>
          <p:cNvSpPr/>
          <p:nvPr/>
        </p:nvSpPr>
        <p:spPr>
          <a:xfrm rot="5400000">
            <a:off x="4993937" y="3764844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124882-D47C-3EE2-B4B5-C2BE2EAE16CA}"/>
              </a:ext>
            </a:extLst>
          </p:cNvPr>
          <p:cNvSpPr txBox="1"/>
          <p:nvPr/>
        </p:nvSpPr>
        <p:spPr>
          <a:xfrm>
            <a:off x="5039658" y="3871649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85E7CDD1-1FF3-4FFC-B0DA-864D3124DCAF}"/>
              </a:ext>
            </a:extLst>
          </p:cNvPr>
          <p:cNvSpPr/>
          <p:nvPr/>
        </p:nvSpPr>
        <p:spPr>
          <a:xfrm rot="5400000">
            <a:off x="4604686" y="4670850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04870B-8E77-BD71-0C6E-E5C7DF7F25AD}"/>
              </a:ext>
            </a:extLst>
          </p:cNvPr>
          <p:cNvSpPr txBox="1"/>
          <p:nvPr/>
        </p:nvSpPr>
        <p:spPr>
          <a:xfrm>
            <a:off x="4650407" y="4777655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27D665E7-9EF7-E19B-5D36-CEB5A51FD617}"/>
              </a:ext>
            </a:extLst>
          </p:cNvPr>
          <p:cNvSpPr/>
          <p:nvPr/>
        </p:nvSpPr>
        <p:spPr>
          <a:xfrm rot="5400000">
            <a:off x="4170977" y="5576856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705058-BF09-6EB0-0BC9-10E899E97628}"/>
              </a:ext>
            </a:extLst>
          </p:cNvPr>
          <p:cNvSpPr txBox="1"/>
          <p:nvPr/>
        </p:nvSpPr>
        <p:spPr>
          <a:xfrm>
            <a:off x="4270054" y="5683661"/>
            <a:ext cx="3803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5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05A8DF7-74BA-FC0E-7A9E-C2015F5125BA}"/>
              </a:ext>
            </a:extLst>
          </p:cNvPr>
          <p:cNvSpPr txBox="1"/>
          <p:nvPr/>
        </p:nvSpPr>
        <p:spPr>
          <a:xfrm>
            <a:off x="4128039" y="-1988081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FDF3CC6-00D7-E903-32B4-F92E5D39422F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06BFC3-0305-0072-9800-C5CA6952981F}"/>
              </a:ext>
            </a:extLst>
          </p:cNvPr>
          <p:cNvSpPr txBox="1"/>
          <p:nvPr/>
        </p:nvSpPr>
        <p:spPr>
          <a:xfrm>
            <a:off x="12682975" y="972684"/>
            <a:ext cx="676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THỰC NGHIỆM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642F1949-A388-FD47-155F-9659C09BB779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2ECAF82-00D6-3F3F-12C3-E1696FA70BA9}"/>
              </a:ext>
            </a:extLst>
          </p:cNvPr>
          <p:cNvSpPr txBox="1"/>
          <p:nvPr/>
        </p:nvSpPr>
        <p:spPr>
          <a:xfrm>
            <a:off x="14336513" y="2020183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Dữ liệu khí tượng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8135EFF-F14B-2DB5-5D99-F809363A576A}"/>
              </a:ext>
            </a:extLst>
          </p:cNvPr>
          <p:cNvCxnSpPr/>
          <p:nvPr/>
        </p:nvCxnSpPr>
        <p:spPr>
          <a:xfrm>
            <a:off x="6577566" y="25896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F5D5A63-3D82-970D-7EEC-12E4DDCAC84F}"/>
              </a:ext>
            </a:extLst>
          </p:cNvPr>
          <p:cNvSpPr txBox="1"/>
          <p:nvPr/>
        </p:nvSpPr>
        <p:spPr>
          <a:xfrm>
            <a:off x="14008318" y="2921577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Trực quan hóa</a:t>
            </a:r>
            <a:r>
              <a:rPr lang="en-US" sz="2800" b="1">
                <a:latin typeface="+mj-lt"/>
              </a:rPr>
              <a:t>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4DE13E4-196C-9946-C073-B8AF27E075AE}"/>
              </a:ext>
            </a:extLst>
          </p:cNvPr>
          <p:cNvCxnSpPr/>
          <p:nvPr/>
        </p:nvCxnSpPr>
        <p:spPr>
          <a:xfrm>
            <a:off x="6084586" y="35802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0E72901-E9E6-BA4C-23E1-9187F070E653}"/>
              </a:ext>
            </a:extLst>
          </p:cNvPr>
          <p:cNvSpPr txBox="1"/>
          <p:nvPr/>
        </p:nvSpPr>
        <p:spPr>
          <a:xfrm>
            <a:off x="13636216" y="3829618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hình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Colab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B6A9300-9D45-2751-3729-CBF37DF837BE}"/>
              </a:ext>
            </a:extLst>
          </p:cNvPr>
          <p:cNvCxnSpPr/>
          <p:nvPr/>
        </p:nvCxnSpPr>
        <p:spPr>
          <a:xfrm>
            <a:off x="5866812" y="4399085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83DCB39-84F0-14E3-EF1E-66F3F472B682}"/>
              </a:ext>
            </a:extLst>
          </p:cNvPr>
          <p:cNvSpPr txBox="1"/>
          <p:nvPr/>
        </p:nvSpPr>
        <p:spPr>
          <a:xfrm>
            <a:off x="13289080" y="4743967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hiệu năng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E97A44C-1ED2-318A-73FC-1366BB4E9B08}"/>
              </a:ext>
            </a:extLst>
          </p:cNvPr>
          <p:cNvCxnSpPr/>
          <p:nvPr/>
        </p:nvCxnSpPr>
        <p:spPr>
          <a:xfrm>
            <a:off x="5530133" y="5313434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D85DB63-BF82-6261-BE64-073E17F4D6E7}"/>
              </a:ext>
            </a:extLst>
          </p:cNvPr>
          <p:cNvSpPr txBox="1"/>
          <p:nvPr/>
        </p:nvSpPr>
        <p:spPr>
          <a:xfrm>
            <a:off x="12855371" y="5609663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Dự báo Web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9D0FA1D-A78B-4587-FCFC-5DCBA7D5C9F2}"/>
              </a:ext>
            </a:extLst>
          </p:cNvPr>
          <p:cNvCxnSpPr>
            <a:cxnSpLocks/>
          </p:cNvCxnSpPr>
          <p:nvPr/>
        </p:nvCxnSpPr>
        <p:spPr>
          <a:xfrm>
            <a:off x="5096424" y="617913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5683597B-8270-1553-39B3-4A1B3CC8D963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D53D08AE-A0FF-163B-63FB-9582C316DAB1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6EA5C0FB-970C-08F6-F015-752E9A62EB4C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07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2BA8-3BCE-4505-EC78-8C992EB8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9D340384-A1C3-1ADE-7CE1-BFDD01C431F1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4A371255-BCFB-9F7D-BCC5-B315448087F9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2765A4B5-B92C-D8F7-C8FD-5D4510EAB1FD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B1B61308-F200-DBE5-70FB-4DF837A5B652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692A5F98-6BAF-5B3B-EAE2-A0358C9944E0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28A9A512-438E-3D77-F5A4-44DC8AC38A1B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B41489C-A96E-D831-06CD-00C07F514848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954A8D3-DF09-EEEE-B41F-E426746BFD08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9C8B8A-EBB6-CDF2-1595-13A6EFD2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C5433-391F-ABF9-4AE5-C06467C18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2120258-F8C5-8E05-B219-4470A45E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A3DE5891-00B2-A29C-8B0D-A83AA6997E8D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5137B09-FF00-D38A-D0F0-67E48CE21A46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9EC46A2-EB70-D53A-FE92-34BAE800BA98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67F7EF0-2219-45D1-7129-9ACE76E9810F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8007A4A7-59EB-F747-1897-7FC2E899920A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84ACE1A-3C8C-0480-152F-9157B79F9B22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77E66CF3-CFE5-50B2-A746-1A2D9BC74BF7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5F4053D-B7A5-1E33-9DD3-A379778861F4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D04D1249-1072-DB09-E400-21E3CDE7624E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3FBAC87-C449-A637-51F0-D4D4AD4F9F75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C54D7AEB-EE51-EEFC-805E-D1895DCA1B63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E8F9AA6-65EB-236F-3318-D7E8CB51D541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AE1BD0E-2E37-F0A1-D12D-4BA4A9CE8B26}"/>
              </a:ext>
            </a:extLst>
          </p:cNvPr>
          <p:cNvSpPr/>
          <p:nvPr/>
        </p:nvSpPr>
        <p:spPr>
          <a:xfrm rot="5400000">
            <a:off x="5671285" y="194975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E8FB94-74F2-BC34-02C5-9FDD88E6A067}"/>
              </a:ext>
            </a:extLst>
          </p:cNvPr>
          <p:cNvSpPr txBox="1"/>
          <p:nvPr/>
        </p:nvSpPr>
        <p:spPr>
          <a:xfrm>
            <a:off x="5717006" y="205656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CBDC81FA-2DF6-32AE-DFCD-8AAAF7F687AC}"/>
              </a:ext>
            </a:extLst>
          </p:cNvPr>
          <p:cNvSpPr/>
          <p:nvPr/>
        </p:nvSpPr>
        <p:spPr>
          <a:xfrm rot="5400000">
            <a:off x="5383188" y="2858838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0788BF-5C7B-55E3-F8B8-683B444D5E9F}"/>
              </a:ext>
            </a:extLst>
          </p:cNvPr>
          <p:cNvSpPr txBox="1"/>
          <p:nvPr/>
        </p:nvSpPr>
        <p:spPr>
          <a:xfrm>
            <a:off x="5428909" y="2965643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2028C0F3-1FE0-8DFF-D304-DDF2B3C108F3}"/>
              </a:ext>
            </a:extLst>
          </p:cNvPr>
          <p:cNvSpPr/>
          <p:nvPr/>
        </p:nvSpPr>
        <p:spPr>
          <a:xfrm rot="5400000">
            <a:off x="4993937" y="3764844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A28129-2329-CBEB-3CB8-5A65D5FAAE25}"/>
              </a:ext>
            </a:extLst>
          </p:cNvPr>
          <p:cNvSpPr txBox="1"/>
          <p:nvPr/>
        </p:nvSpPr>
        <p:spPr>
          <a:xfrm>
            <a:off x="5039658" y="3871649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A80E9275-E25A-F21D-7E9B-653ECC085DF9}"/>
              </a:ext>
            </a:extLst>
          </p:cNvPr>
          <p:cNvSpPr/>
          <p:nvPr/>
        </p:nvSpPr>
        <p:spPr>
          <a:xfrm rot="5400000">
            <a:off x="4604686" y="4670850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AD14BE-D218-6104-A103-066A5B9668A6}"/>
              </a:ext>
            </a:extLst>
          </p:cNvPr>
          <p:cNvSpPr txBox="1"/>
          <p:nvPr/>
        </p:nvSpPr>
        <p:spPr>
          <a:xfrm>
            <a:off x="4650407" y="4777655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68333F45-0D1A-7B62-D1B9-AA4129E607C9}"/>
              </a:ext>
            </a:extLst>
          </p:cNvPr>
          <p:cNvSpPr/>
          <p:nvPr/>
        </p:nvSpPr>
        <p:spPr>
          <a:xfrm rot="5400000">
            <a:off x="4170977" y="5576856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F4B206-C495-4F3D-1372-71A7EABBB6E4}"/>
              </a:ext>
            </a:extLst>
          </p:cNvPr>
          <p:cNvSpPr txBox="1"/>
          <p:nvPr/>
        </p:nvSpPr>
        <p:spPr>
          <a:xfrm>
            <a:off x="4270054" y="5683661"/>
            <a:ext cx="3803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5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00D20E-263E-4877-0CDA-06F25B058656}"/>
              </a:ext>
            </a:extLst>
          </p:cNvPr>
          <p:cNvSpPr txBox="1"/>
          <p:nvPr/>
        </p:nvSpPr>
        <p:spPr>
          <a:xfrm>
            <a:off x="4249520" y="564848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74F03CF-0AF6-2735-6753-B60C9659999B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C553ED-1DA3-5C09-85AB-9C167BE7BF07}"/>
              </a:ext>
            </a:extLst>
          </p:cNvPr>
          <p:cNvSpPr txBox="1"/>
          <p:nvPr/>
        </p:nvSpPr>
        <p:spPr>
          <a:xfrm>
            <a:off x="4867261" y="908106"/>
            <a:ext cx="676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THỰC NGHIỆM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03ED91D4-5627-F2BC-B9C9-9DFD7DB915FC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16E118-0D09-F611-E6E5-8781DD023D36}"/>
              </a:ext>
            </a:extLst>
          </p:cNvPr>
          <p:cNvSpPr txBox="1"/>
          <p:nvPr/>
        </p:nvSpPr>
        <p:spPr>
          <a:xfrm>
            <a:off x="6520799" y="195560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Dữ liệu khí tượng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A3AB0F-F3FE-4871-4AB6-AD7C1C3DF536}"/>
              </a:ext>
            </a:extLst>
          </p:cNvPr>
          <p:cNvCxnSpPr>
            <a:cxnSpLocks/>
          </p:cNvCxnSpPr>
          <p:nvPr/>
        </p:nvCxnSpPr>
        <p:spPr>
          <a:xfrm>
            <a:off x="6577566" y="2589650"/>
            <a:ext cx="5289969" cy="20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39AF061-9874-3858-7372-865AFB56E8B3}"/>
              </a:ext>
            </a:extLst>
          </p:cNvPr>
          <p:cNvSpPr txBox="1"/>
          <p:nvPr/>
        </p:nvSpPr>
        <p:spPr>
          <a:xfrm>
            <a:off x="6192604" y="2856999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Trực quan hóa</a:t>
            </a:r>
            <a:r>
              <a:rPr lang="en-US" sz="2800" b="1">
                <a:latin typeface="+mj-lt"/>
              </a:rPr>
              <a:t>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AFA817D-4A4D-97B8-8FC1-860F5737E267}"/>
              </a:ext>
            </a:extLst>
          </p:cNvPr>
          <p:cNvCxnSpPr/>
          <p:nvPr/>
        </p:nvCxnSpPr>
        <p:spPr>
          <a:xfrm>
            <a:off x="6084586" y="358025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05CEB7C-2A29-3D69-54DB-E7DF2B13E0FD}"/>
              </a:ext>
            </a:extLst>
          </p:cNvPr>
          <p:cNvSpPr txBox="1"/>
          <p:nvPr/>
        </p:nvSpPr>
        <p:spPr>
          <a:xfrm>
            <a:off x="5820502" y="3765040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hình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Colab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0617CA1-9DD9-752E-107D-15CD01597BC6}"/>
              </a:ext>
            </a:extLst>
          </p:cNvPr>
          <p:cNvCxnSpPr/>
          <p:nvPr/>
        </p:nvCxnSpPr>
        <p:spPr>
          <a:xfrm>
            <a:off x="5866812" y="4399085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9BAAFD7-13D9-F8E6-8DE1-BBF162EAFA7E}"/>
              </a:ext>
            </a:extLst>
          </p:cNvPr>
          <p:cNvSpPr txBox="1"/>
          <p:nvPr/>
        </p:nvSpPr>
        <p:spPr>
          <a:xfrm>
            <a:off x="5473366" y="4679389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hiệu năng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7E51FED-B8D5-6FA3-C1DF-C67854B447B4}"/>
              </a:ext>
            </a:extLst>
          </p:cNvPr>
          <p:cNvCxnSpPr/>
          <p:nvPr/>
        </p:nvCxnSpPr>
        <p:spPr>
          <a:xfrm>
            <a:off x="5530133" y="5313434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14DFD7B-4238-4FF2-2042-FB142D0F27A9}"/>
              </a:ext>
            </a:extLst>
          </p:cNvPr>
          <p:cNvSpPr txBox="1"/>
          <p:nvPr/>
        </p:nvSpPr>
        <p:spPr>
          <a:xfrm>
            <a:off x="5039657" y="554508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Dự báo Web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B0CDAB4-717A-5BB2-05F4-F00C381B2EC6}"/>
              </a:ext>
            </a:extLst>
          </p:cNvPr>
          <p:cNvCxnSpPr>
            <a:cxnSpLocks/>
          </p:cNvCxnSpPr>
          <p:nvPr/>
        </p:nvCxnSpPr>
        <p:spPr>
          <a:xfrm>
            <a:off x="5096424" y="6179130"/>
            <a:ext cx="54772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352CAC04-1F93-0A13-9105-221CB8B10A44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ED1CD9D1-3712-2BC4-2807-09FEFC24CEEC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6F7900FA-E0C7-17DD-4801-AF4878229923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5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81AD-1705-B22E-551C-FCAFDF68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C1FE-F30F-9944-61F5-96D11179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KHÍ TƯỢNG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DCA74-5EF8-201E-96CB-72E07840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5BD493E-DE5C-80CC-71EC-8F2779EC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09272"/>
            <a:ext cx="9352721" cy="263498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395FC7-125F-DA2D-4D34-54FF053F0015}"/>
              </a:ext>
            </a:extLst>
          </p:cNvPr>
          <p:cNvSpPr/>
          <p:nvPr/>
        </p:nvSpPr>
        <p:spPr>
          <a:xfrm>
            <a:off x="165891" y="3421380"/>
            <a:ext cx="8184039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60E8030-54F4-C2D0-771F-BED1A620BAEB}"/>
              </a:ext>
            </a:extLst>
          </p:cNvPr>
          <p:cNvSpPr/>
          <p:nvPr/>
        </p:nvSpPr>
        <p:spPr>
          <a:xfrm>
            <a:off x="173512" y="3429000"/>
            <a:ext cx="8176418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77AB621-6A12-F67D-7FF7-15BC36E8096C}"/>
              </a:ext>
            </a:extLst>
          </p:cNvPr>
          <p:cNvSpPr/>
          <p:nvPr/>
        </p:nvSpPr>
        <p:spPr>
          <a:xfrm>
            <a:off x="400326" y="3572709"/>
            <a:ext cx="4125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ThoiTiet.</a:t>
            </a: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csv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7570E3D-D42C-8228-E16E-55679BE927D0}"/>
              </a:ext>
            </a:extLst>
          </p:cNvPr>
          <p:cNvSpPr/>
          <p:nvPr/>
        </p:nvSpPr>
        <p:spPr>
          <a:xfrm>
            <a:off x="5123449" y="3559651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Biến khí tượng.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95F8B4C-3E2A-4A10-8C54-32CA73749F21}"/>
              </a:ext>
            </a:extLst>
          </p:cNvPr>
          <p:cNvSpPr/>
          <p:nvPr/>
        </p:nvSpPr>
        <p:spPr>
          <a:xfrm>
            <a:off x="173511" y="4079320"/>
            <a:ext cx="8176417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6D70F06-1A99-5BA6-EFCA-3D20454B4AA6}"/>
              </a:ext>
            </a:extLst>
          </p:cNvPr>
          <p:cNvSpPr/>
          <p:nvPr/>
        </p:nvSpPr>
        <p:spPr>
          <a:xfrm>
            <a:off x="400326" y="4223028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Tram.</a:t>
            </a: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csv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5112D96-8519-DF68-6259-B28F0011E99E}"/>
              </a:ext>
            </a:extLst>
          </p:cNvPr>
          <p:cNvSpPr/>
          <p:nvPr/>
        </p:nvSpPr>
        <p:spPr>
          <a:xfrm>
            <a:off x="5123449" y="4209970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Thông tin trạm.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EA5EEAFD-B276-A6B7-A811-756C5061197D}"/>
              </a:ext>
            </a:extLst>
          </p:cNvPr>
          <p:cNvSpPr/>
          <p:nvPr/>
        </p:nvSpPr>
        <p:spPr>
          <a:xfrm>
            <a:off x="173512" y="4729639"/>
            <a:ext cx="8176416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C48012C-2199-3624-59CE-950BB6D0747E}"/>
              </a:ext>
            </a:extLst>
          </p:cNvPr>
          <p:cNvSpPr/>
          <p:nvPr/>
        </p:nvSpPr>
        <p:spPr>
          <a:xfrm>
            <a:off x="400326" y="4873347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ThienTai.</a:t>
            </a: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csv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A1D35A47-532B-00A1-8EDF-FDAEC466F086}"/>
              </a:ext>
            </a:extLst>
          </p:cNvPr>
          <p:cNvSpPr/>
          <p:nvPr/>
        </p:nvSpPr>
        <p:spPr>
          <a:xfrm>
            <a:off x="5123449" y="4860289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Dữ liệu thiên tai.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C8AE926-75EC-DDEA-5E6A-4268305B869E}"/>
              </a:ext>
            </a:extLst>
          </p:cNvPr>
          <p:cNvSpPr/>
          <p:nvPr/>
        </p:nvSpPr>
        <p:spPr>
          <a:xfrm>
            <a:off x="173512" y="5775180"/>
            <a:ext cx="118449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Quá trình tiền xử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lý gồm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nội suy và chuẩn hóa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Min–</a:t>
            </a:r>
            <a:r>
              <a:rPr lang="vi-VN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Max,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để đảm bảo chất lượng dữ liệu.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023A661D-E7DD-CCE5-FE3C-8D3BA837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636" y="2630924"/>
            <a:ext cx="3200851" cy="274903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5146D49-0B61-AAF5-E5BE-2A63DCEA5CFB}"/>
              </a:ext>
            </a:extLst>
          </p:cNvPr>
          <p:cNvSpPr txBox="1"/>
          <p:nvPr/>
        </p:nvSpPr>
        <p:spPr>
          <a:xfrm>
            <a:off x="275388" y="920348"/>
            <a:ext cx="11844975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vi-VN" sz="2600">
                <a:solidFill>
                  <a:srgbClr val="000000"/>
                </a:solidFill>
                <a:latin typeface="+mj-lt"/>
                <a:ea typeface="Inter Bold" pitchFamily="34" charset="-122"/>
                <a:cs typeface="Times New Roman" panose="02020603050405020304" pitchFamily="18" charset="0"/>
              </a:rPr>
              <a:t>Trạm quan trắc trong nước và nước ngoài gồm ( NasaPower,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</a:t>
            </a:r>
            <a:r>
              <a:rPr lang="en-US" sz="2600">
                <a:latin typeface="+mj-lt"/>
              </a:rPr>
              <a:t>,…</a:t>
            </a:r>
            <a:r>
              <a:rPr lang="vi-VN" sz="2600">
                <a:latin typeface="+mj-lt"/>
              </a:rPr>
              <a:t>)</a:t>
            </a:r>
            <a:endParaRPr lang="en-US" sz="2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94BA14-09EB-4CF1-BA00-01E71041EA22}"/>
              </a:ext>
            </a:extLst>
          </p:cNvPr>
          <p:cNvSpPr txBox="1"/>
          <p:nvPr/>
        </p:nvSpPr>
        <p:spPr>
          <a:xfrm>
            <a:off x="679019" y="2401223"/>
            <a:ext cx="7051817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Biến số: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Nhiệt độ, lượng mưa, độ ẩm, tốc độ gió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22BAC3-77AF-C7E9-65E5-37FF54CC15E8}"/>
              </a:ext>
            </a:extLst>
          </p:cNvPr>
          <p:cNvSpPr txBox="1"/>
          <p:nvPr/>
        </p:nvSpPr>
        <p:spPr>
          <a:xfrm>
            <a:off x="679019" y="1621705"/>
            <a:ext cx="6116782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Giai đoạn: </a:t>
            </a: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2010–2024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66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C05C-4E4A-2F08-7D3A-1DB8039E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84D7-B04E-30BD-1ADD-C11DDCF0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TRỰC QUAN HÓA POWER BI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525F1-E43B-C734-7E67-B4A44714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E292653-015E-0703-496A-ABFD2F729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61" y="6544297"/>
            <a:ext cx="9352721" cy="307008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485BE5F-FCC2-7368-464C-3E55C06CD716}"/>
              </a:ext>
            </a:extLst>
          </p:cNvPr>
          <p:cNvSpPr/>
          <p:nvPr/>
        </p:nvSpPr>
        <p:spPr>
          <a:xfrm>
            <a:off x="211548" y="1003995"/>
            <a:ext cx="11792550" cy="2549927"/>
          </a:xfrm>
          <a:prstGeom prst="roundRect">
            <a:avLst>
              <a:gd name="adj" fmla="val 4867"/>
            </a:avLst>
          </a:prstGeom>
          <a:solidFill>
            <a:srgbClr val="B0E2FA"/>
          </a:solidFill>
          <a:ln w="3048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BBD5BDE6-FCBF-51D4-DA68-E291C146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" y="867907"/>
            <a:ext cx="272177" cy="272177"/>
          </a:xfrm>
          <a:prstGeom prst="rect">
            <a:avLst/>
          </a:prstGeom>
        </p:spPr>
      </p:pic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1F6BB3B1-6E83-A0C3-12D9-D0EC887F4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682" y="3384808"/>
            <a:ext cx="272177" cy="272177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EF78F2C1-4D74-92B2-B0E2-7BD59208B288}"/>
              </a:ext>
            </a:extLst>
          </p:cNvPr>
          <p:cNvSpPr/>
          <p:nvPr/>
        </p:nvSpPr>
        <p:spPr>
          <a:xfrm>
            <a:off x="199725" y="1243147"/>
            <a:ext cx="11792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Hiểu rõ các yếu tố khí hậu quan trọng.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C5E180B-5E7E-8371-18A7-66D1E186D05E}"/>
              </a:ext>
            </a:extLst>
          </p:cNvPr>
          <p:cNvSpPr/>
          <p:nvPr/>
        </p:nvSpPr>
        <p:spPr>
          <a:xfrm>
            <a:off x="1249680" y="1834633"/>
            <a:ext cx="8961120" cy="159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Tổng quan khu vực Miền Bắc</a:t>
            </a: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SzPct val="100000"/>
              <a:buFontTx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Lượng mưa &amp; Tốc độ gió</a:t>
            </a:r>
            <a:endParaRPr lang="vi-VN" sz="260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SzPct val="100000"/>
              <a:buFontTx/>
              <a:buChar char="•"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SzPct val="100000"/>
              <a:buFontTx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Nhiệt độ &amp; Độ ẩm không khí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endParaRPr lang="en-US" sz="2800" dirty="0"/>
          </a:p>
        </p:txBody>
      </p:sp>
      <p:pic>
        <p:nvPicPr>
          <p:cNvPr id="23" name="Picture 2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C03DFDB-F4EF-5985-73BD-B009F4FB6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751" y="3768315"/>
            <a:ext cx="9621593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3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9937-05E6-500C-1783-32C6DE3A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0C55-5A7F-A062-C8F1-60850008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60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HÌNH COLAB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CD2CA-CBF2-76D8-0148-B7B8B897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17D776E-CEBA-D083-58DA-B5BEB743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61" y="6544297"/>
            <a:ext cx="9352721" cy="307008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A3014B8-0CDA-84B2-9C92-D423BF3A0CF5}"/>
              </a:ext>
            </a:extLst>
          </p:cNvPr>
          <p:cNvSpPr/>
          <p:nvPr/>
        </p:nvSpPr>
        <p:spPr>
          <a:xfrm>
            <a:off x="409173" y="951596"/>
            <a:ext cx="7205459" cy="1662747"/>
          </a:xfrm>
          <a:prstGeom prst="roundRect">
            <a:avLst>
              <a:gd name="adj" fmla="val 4106"/>
            </a:avLst>
          </a:prstGeom>
          <a:solidFill>
            <a:srgbClr val="B0E2FA"/>
          </a:solidFill>
          <a:ln w="3048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398227B-4027-F0E4-44DC-04AE5A37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6" y="819966"/>
            <a:ext cx="272177" cy="273500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20815C8-9387-A0AC-11AC-010F1CC6A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543" y="2472473"/>
            <a:ext cx="272177" cy="27350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40B2CE3-8171-9057-E54E-FF8D9ACD7EC3}"/>
              </a:ext>
            </a:extLst>
          </p:cNvPr>
          <p:cNvSpPr/>
          <p:nvPr/>
        </p:nvSpPr>
        <p:spPr>
          <a:xfrm>
            <a:off x="3054242" y="1199150"/>
            <a:ext cx="1586798" cy="356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ARIMA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7D1C141-0C34-61CB-B1E2-9E06016C8ED0}"/>
              </a:ext>
            </a:extLst>
          </p:cNvPr>
          <p:cNvSpPr/>
          <p:nvPr/>
        </p:nvSpPr>
        <p:spPr>
          <a:xfrm>
            <a:off x="865238" y="1899863"/>
            <a:ext cx="6056947" cy="72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Hiệu quả với dữ liệu tuyến tính, ít biến động.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16DCFBC-182C-7AAA-B788-08D5B8210778}"/>
              </a:ext>
            </a:extLst>
          </p:cNvPr>
          <p:cNvSpPr/>
          <p:nvPr/>
        </p:nvSpPr>
        <p:spPr>
          <a:xfrm>
            <a:off x="392615" y="4768632"/>
            <a:ext cx="7233838" cy="1442564"/>
          </a:xfrm>
          <a:prstGeom prst="roundRect">
            <a:avLst>
              <a:gd name="adj" fmla="val 4106"/>
            </a:avLst>
          </a:prstGeom>
          <a:solidFill>
            <a:srgbClr val="B0E2FA"/>
          </a:solidFill>
          <a:ln w="3048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159D6BBC-6FF1-7F3B-4C5F-B6710D1A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6" y="4663023"/>
            <a:ext cx="272177" cy="272177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320D4CDA-ED5A-8868-9DD4-9280DE3D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63" y="6114541"/>
            <a:ext cx="272177" cy="272177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574FAE77-4F8F-9C3C-DDFD-B737173378DE}"/>
              </a:ext>
            </a:extLst>
          </p:cNvPr>
          <p:cNvSpPr/>
          <p:nvPr/>
        </p:nvSpPr>
        <p:spPr>
          <a:xfrm>
            <a:off x="3196984" y="5071349"/>
            <a:ext cx="1623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Dự báo ngắn hạn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750"/>
              </a:lnSpc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81F1DF0-C0C1-F04E-947F-E9A610415FF6}"/>
              </a:ext>
            </a:extLst>
          </p:cNvPr>
          <p:cNvSpPr/>
          <p:nvPr/>
        </p:nvSpPr>
        <p:spPr>
          <a:xfrm>
            <a:off x="718403" y="5629691"/>
            <a:ext cx="6215604" cy="48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Đạt hiệu quả cao trong khoảng thời gian ngắn.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F78F235-7339-9DEC-F7BC-8C29A65D5F6A}"/>
              </a:ext>
            </a:extLst>
          </p:cNvPr>
          <p:cNvSpPr/>
          <p:nvPr/>
        </p:nvSpPr>
        <p:spPr>
          <a:xfrm>
            <a:off x="392615" y="2904708"/>
            <a:ext cx="7215182" cy="1544989"/>
          </a:xfrm>
          <a:prstGeom prst="roundRect">
            <a:avLst>
              <a:gd name="adj" fmla="val 4867"/>
            </a:avLst>
          </a:prstGeom>
          <a:solidFill>
            <a:srgbClr val="B0E2FA"/>
          </a:solidFill>
          <a:ln w="3048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F307A25F-F181-D94A-2564-F198D5276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9" y="2797190"/>
            <a:ext cx="272177" cy="272177"/>
          </a:xfrm>
          <a:prstGeom prst="rect">
            <a:avLst/>
          </a:prstGeom>
        </p:spPr>
      </p:pic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7ABA984B-5DEF-FFB9-523B-E73F34AB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886" y="4313608"/>
            <a:ext cx="272177" cy="272177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372915B0-33F9-9A61-09F1-6A1834F9AB6D}"/>
              </a:ext>
            </a:extLst>
          </p:cNvPr>
          <p:cNvSpPr/>
          <p:nvPr/>
        </p:nvSpPr>
        <p:spPr>
          <a:xfrm>
            <a:off x="3178327" y="3154408"/>
            <a:ext cx="13249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LSTM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47CF18F-7506-7E67-3FC5-1FCCEBC4A4B0}"/>
              </a:ext>
            </a:extLst>
          </p:cNvPr>
          <p:cNvSpPr/>
          <p:nvPr/>
        </p:nvSpPr>
        <p:spPr>
          <a:xfrm>
            <a:off x="1091527" y="3774882"/>
            <a:ext cx="5823822" cy="5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Sai số thấp, nắm bắt phi tuyến tính tốt hơn.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A7A69A22-05FE-0FA3-390B-6EA70E0F6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990" y="959266"/>
            <a:ext cx="3735974" cy="52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C459-6339-790B-B9F7-85C03E4A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B01F-F65B-3523-2AC0-7ADFD582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HIỆU NĂNG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B0627-743D-ECE3-9317-D18C9737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70C1725-BCC3-F3DC-33BF-CE1BD40B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228"/>
            <a:ext cx="9352721" cy="293772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538566E-E6A6-FCBA-DAF2-FE55F5A9BE85}"/>
              </a:ext>
            </a:extLst>
          </p:cNvPr>
          <p:cNvSpPr/>
          <p:nvPr/>
        </p:nvSpPr>
        <p:spPr>
          <a:xfrm>
            <a:off x="617634" y="1775255"/>
            <a:ext cx="2495207" cy="680442"/>
          </a:xfrm>
          <a:prstGeom prst="roundRect">
            <a:avLst>
              <a:gd name="adj" fmla="val 480029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325EC7CA-9A57-F40A-D821-F0E9B66A8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694" y="1944675"/>
            <a:ext cx="340162" cy="340162"/>
          </a:xfrm>
          <a:prstGeom prst="rect">
            <a:avLst/>
          </a:prstGeom>
        </p:spPr>
      </p:pic>
      <p:sp>
        <p:nvSpPr>
          <p:cNvPr id="11" name="Shape 4">
            <a:extLst>
              <a:ext uri="{FF2B5EF4-FFF2-40B4-BE49-F238E27FC236}">
                <a16:creationId xmlns:a16="http://schemas.microsoft.com/office/drawing/2014/main" id="{91D2FFB7-B65E-4E2A-1A20-DAEA25FD3247}"/>
              </a:ext>
            </a:extLst>
          </p:cNvPr>
          <p:cNvSpPr/>
          <p:nvPr/>
        </p:nvSpPr>
        <p:spPr>
          <a:xfrm>
            <a:off x="3798697" y="1818775"/>
            <a:ext cx="3742730" cy="680442"/>
          </a:xfrm>
          <a:prstGeom prst="roundRect">
            <a:avLst>
              <a:gd name="adj" fmla="val 480029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70487CD4-C03B-70C4-82B7-F185D5E43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053" y="1950521"/>
            <a:ext cx="340162" cy="340162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4A033DE6-C3D1-138E-1768-5FE8BF096625}"/>
              </a:ext>
            </a:extLst>
          </p:cNvPr>
          <p:cNvSpPr/>
          <p:nvPr/>
        </p:nvSpPr>
        <p:spPr>
          <a:xfrm>
            <a:off x="8230183" y="1755154"/>
            <a:ext cx="3618502" cy="680442"/>
          </a:xfrm>
          <a:prstGeom prst="roundRect">
            <a:avLst>
              <a:gd name="adj" fmla="val 480029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DC5768B-ACAC-A557-0DFC-35608BEADE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9353" y="1925294"/>
            <a:ext cx="340162" cy="340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632E97-6058-3831-10AC-AEE86E9473A1}"/>
              </a:ext>
            </a:extLst>
          </p:cNvPr>
          <p:cNvSpPr txBox="1"/>
          <p:nvPr/>
        </p:nvSpPr>
        <p:spPr>
          <a:xfrm>
            <a:off x="228600" y="1041281"/>
            <a:ext cx="7672536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Lựa chọn giải pháp tối ưu dựa trên các chỉ số chính.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D8C82-A1E3-9A1F-8638-4FAAA92139B1}"/>
              </a:ext>
            </a:extLst>
          </p:cNvPr>
          <p:cNvSpPr txBox="1"/>
          <p:nvPr/>
        </p:nvSpPr>
        <p:spPr>
          <a:xfrm>
            <a:off x="1317256" y="1837757"/>
            <a:ext cx="15930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>
                <a:latin typeface="+mj-lt"/>
              </a:rPr>
              <a:t>Chỉ số</a:t>
            </a:r>
            <a:endParaRPr lang="en-US" sz="3000" b="1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24A6D-A824-A19C-BFC0-09898A3C0B22}"/>
              </a:ext>
            </a:extLst>
          </p:cNvPr>
          <p:cNvSpPr txBox="1"/>
          <p:nvPr/>
        </p:nvSpPr>
        <p:spPr>
          <a:xfrm>
            <a:off x="4410266" y="1848196"/>
            <a:ext cx="3076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>
                <a:latin typeface="+mj-lt"/>
              </a:rPr>
              <a:t>Mô hình ARIMA</a:t>
            </a:r>
            <a:endParaRPr lang="en-US" sz="3000" b="1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6D3D20-EF1B-A5FD-8CA1-00F44323B0BC}"/>
              </a:ext>
            </a:extLst>
          </p:cNvPr>
          <p:cNvSpPr txBox="1"/>
          <p:nvPr/>
        </p:nvSpPr>
        <p:spPr>
          <a:xfrm>
            <a:off x="8881739" y="1822969"/>
            <a:ext cx="29047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>
                <a:latin typeface="+mj-lt"/>
              </a:rPr>
              <a:t>Mô hình LSTM</a:t>
            </a:r>
            <a:endParaRPr lang="en-US" sz="3000" b="1">
              <a:latin typeface="+mj-lt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D38D2584-E3BD-B531-5C8B-ACA8E6650985}"/>
              </a:ext>
            </a:extLst>
          </p:cNvPr>
          <p:cNvSpPr/>
          <p:nvPr/>
        </p:nvSpPr>
        <p:spPr>
          <a:xfrm>
            <a:off x="617634" y="2997160"/>
            <a:ext cx="1123105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9EFF6A1E-49EF-E4F5-D96F-A366FBA96D88}"/>
              </a:ext>
            </a:extLst>
          </p:cNvPr>
          <p:cNvSpPr/>
          <p:nvPr/>
        </p:nvSpPr>
        <p:spPr>
          <a:xfrm>
            <a:off x="515258" y="3140868"/>
            <a:ext cx="27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MAE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4C06441-E0DD-5422-C96A-623718FA2AA9}"/>
              </a:ext>
            </a:extLst>
          </p:cNvPr>
          <p:cNvSpPr/>
          <p:nvPr/>
        </p:nvSpPr>
        <p:spPr>
          <a:xfrm>
            <a:off x="3798697" y="3140868"/>
            <a:ext cx="4026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Thấp hơn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124AE3F-8AAB-85E6-1B7E-4055ACD6F1C4}"/>
              </a:ext>
            </a:extLst>
          </p:cNvPr>
          <p:cNvSpPr/>
          <p:nvPr/>
        </p:nvSpPr>
        <p:spPr>
          <a:xfrm>
            <a:off x="8369811" y="3140868"/>
            <a:ext cx="4670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Tối ưu hơn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12A45B99-1CD4-C3E2-A7BC-FA270BDD7919}"/>
              </a:ext>
            </a:extLst>
          </p:cNvPr>
          <p:cNvSpPr/>
          <p:nvPr/>
        </p:nvSpPr>
        <p:spPr>
          <a:xfrm>
            <a:off x="617634" y="3647479"/>
            <a:ext cx="1123105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770ADA7-2EA9-1F07-8288-9CA133ABB3EA}"/>
              </a:ext>
            </a:extLst>
          </p:cNvPr>
          <p:cNvSpPr/>
          <p:nvPr/>
        </p:nvSpPr>
        <p:spPr>
          <a:xfrm>
            <a:off x="515258" y="3791188"/>
            <a:ext cx="27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RMSE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ED0C4238-A24A-10FB-29F7-1CCD5FA6787F}"/>
              </a:ext>
            </a:extLst>
          </p:cNvPr>
          <p:cNvSpPr/>
          <p:nvPr/>
        </p:nvSpPr>
        <p:spPr>
          <a:xfrm>
            <a:off x="3798697" y="3791188"/>
            <a:ext cx="4026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Ổn định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CBDDE3C-FA35-5F7C-46BC-28DC00B17CD9}"/>
              </a:ext>
            </a:extLst>
          </p:cNvPr>
          <p:cNvSpPr/>
          <p:nvPr/>
        </p:nvSpPr>
        <p:spPr>
          <a:xfrm>
            <a:off x="8369811" y="3791188"/>
            <a:ext cx="4670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Chính xác hơn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63FC2AC6-7B04-0DFE-7297-198B7B6F21BA}"/>
              </a:ext>
            </a:extLst>
          </p:cNvPr>
          <p:cNvSpPr/>
          <p:nvPr/>
        </p:nvSpPr>
        <p:spPr>
          <a:xfrm>
            <a:off x="617634" y="4297798"/>
            <a:ext cx="1123105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70113307-F91C-0A89-4A92-BB3984B8A4C4}"/>
              </a:ext>
            </a:extLst>
          </p:cNvPr>
          <p:cNvSpPr/>
          <p:nvPr/>
        </p:nvSpPr>
        <p:spPr>
          <a:xfrm>
            <a:off x="515258" y="4441507"/>
            <a:ext cx="27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MAPE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EBEED292-5E5F-082E-698D-C7F5D6757FF1}"/>
              </a:ext>
            </a:extLst>
          </p:cNvPr>
          <p:cNvSpPr/>
          <p:nvPr/>
        </p:nvSpPr>
        <p:spPr>
          <a:xfrm>
            <a:off x="3798697" y="4441507"/>
            <a:ext cx="4026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Chấp nhận được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83147C48-DDAE-47CA-0155-B34423EA55B2}"/>
              </a:ext>
            </a:extLst>
          </p:cNvPr>
          <p:cNvSpPr/>
          <p:nvPr/>
        </p:nvSpPr>
        <p:spPr>
          <a:xfrm>
            <a:off x="8369811" y="4441507"/>
            <a:ext cx="4670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Vượt trội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66377E-7C7F-278E-3C3F-5BF6FF2047ED}"/>
              </a:ext>
            </a:extLst>
          </p:cNvPr>
          <p:cNvSpPr txBox="1"/>
          <p:nvPr/>
        </p:nvSpPr>
        <p:spPr>
          <a:xfrm>
            <a:off x="358140" y="5415551"/>
            <a:ext cx="9547860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Các chỉ số MAE, RMSE, MAPE được dùng để đánh giá độ chính xác.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046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9089-FBAE-A6FD-CAFB-CB8883F4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01E7-61A5-B121-4FE6-56F3E68AE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DỰ BÁO WEB VS CODE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940C0-466F-8EFD-0789-368D9D84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60B99F5-1C81-13BC-55FD-86437E28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228"/>
            <a:ext cx="9352721" cy="293772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44C5E2-5F9E-A871-7AC4-B9514FC5D788}"/>
              </a:ext>
            </a:extLst>
          </p:cNvPr>
          <p:cNvSpPr/>
          <p:nvPr/>
        </p:nvSpPr>
        <p:spPr>
          <a:xfrm>
            <a:off x="1377857" y="974536"/>
            <a:ext cx="817483" cy="1226344"/>
          </a:xfrm>
          <a:prstGeom prst="roundRect">
            <a:avLst>
              <a:gd name="adj" fmla="val 36004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FE451D-3F4D-EB61-82E0-5B0E627CCB02}"/>
              </a:ext>
            </a:extLst>
          </p:cNvPr>
          <p:cNvSpPr/>
          <p:nvPr/>
        </p:nvSpPr>
        <p:spPr>
          <a:xfrm>
            <a:off x="1633246" y="1544315"/>
            <a:ext cx="306586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1E83608-33F2-C4E5-2B80-A93746D30F9D}"/>
              </a:ext>
            </a:extLst>
          </p:cNvPr>
          <p:cNvSpPr/>
          <p:nvPr/>
        </p:nvSpPr>
        <p:spPr>
          <a:xfrm>
            <a:off x="2399651" y="1178847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Huấn luyện &amp; Lưu trữ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48C2197-FCF7-0AE0-2B61-51514101DF11}"/>
              </a:ext>
            </a:extLst>
          </p:cNvPr>
          <p:cNvSpPr/>
          <p:nvPr/>
        </p:nvSpPr>
        <p:spPr>
          <a:xfrm>
            <a:off x="2399651" y="1620807"/>
            <a:ext cx="669155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Sử dụng Colab để huấn luyện và lưu trữ mô hình.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D7B0E172-E1C6-2459-C1D0-712DDB322DF8}"/>
              </a:ext>
            </a:extLst>
          </p:cNvPr>
          <p:cNvSpPr/>
          <p:nvPr/>
        </p:nvSpPr>
        <p:spPr>
          <a:xfrm>
            <a:off x="1377857" y="2405191"/>
            <a:ext cx="817483" cy="1226344"/>
          </a:xfrm>
          <a:prstGeom prst="roundRect">
            <a:avLst>
              <a:gd name="adj" fmla="val 36004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4DDF762-2771-C1F1-D9CF-1EF64C7C5221}"/>
              </a:ext>
            </a:extLst>
          </p:cNvPr>
          <p:cNvSpPr/>
          <p:nvPr/>
        </p:nvSpPr>
        <p:spPr>
          <a:xfrm>
            <a:off x="1633246" y="2974970"/>
            <a:ext cx="306586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8CD11AC3-05C2-3F2F-10FA-230341A140CF}"/>
              </a:ext>
            </a:extLst>
          </p:cNvPr>
          <p:cNvSpPr/>
          <p:nvPr/>
        </p:nvSpPr>
        <p:spPr>
          <a:xfrm>
            <a:off x="2399651" y="2609502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Kiến trúc Backend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2547ADE-FEA3-4DD6-388F-4D1D387AE472}"/>
              </a:ext>
            </a:extLst>
          </p:cNvPr>
          <p:cNvSpPr/>
          <p:nvPr/>
        </p:nvSpPr>
        <p:spPr>
          <a:xfrm>
            <a:off x="2399651" y="3051462"/>
            <a:ext cx="669155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Phát triển API với FastAPI để xử lý yêu cầu.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A342F9B-3D15-72B8-F2E5-BA90A5AC38D3}"/>
              </a:ext>
            </a:extLst>
          </p:cNvPr>
          <p:cNvSpPr/>
          <p:nvPr/>
        </p:nvSpPr>
        <p:spPr>
          <a:xfrm>
            <a:off x="1377857" y="3835846"/>
            <a:ext cx="817483" cy="1226344"/>
          </a:xfrm>
          <a:prstGeom prst="roundRect">
            <a:avLst>
              <a:gd name="adj" fmla="val 36004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F321716-69F5-CA38-FB89-89212A19025D}"/>
              </a:ext>
            </a:extLst>
          </p:cNvPr>
          <p:cNvSpPr/>
          <p:nvPr/>
        </p:nvSpPr>
        <p:spPr>
          <a:xfrm>
            <a:off x="1633246" y="4405625"/>
            <a:ext cx="306586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3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BE521DBE-E162-D722-9CEB-122C1951D522}"/>
              </a:ext>
            </a:extLst>
          </p:cNvPr>
          <p:cNvSpPr/>
          <p:nvPr/>
        </p:nvSpPr>
        <p:spPr>
          <a:xfrm>
            <a:off x="2399651" y="4040157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Thu thập &amp; Xử lý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256A217-12DC-1A3F-48F5-C5A7F4735987}"/>
              </a:ext>
            </a:extLst>
          </p:cNvPr>
          <p:cNvSpPr/>
          <p:nvPr/>
        </p:nvSpPr>
        <p:spPr>
          <a:xfrm>
            <a:off x="2399651" y="4482117"/>
            <a:ext cx="669155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Quản lý dữ liệu hiệu quả, từ thu thập đến tiền xử lý.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59E7ABBE-80F3-E1FC-7456-996754332130}"/>
              </a:ext>
            </a:extLst>
          </p:cNvPr>
          <p:cNvSpPr/>
          <p:nvPr/>
        </p:nvSpPr>
        <p:spPr>
          <a:xfrm>
            <a:off x="1377857" y="5266501"/>
            <a:ext cx="817483" cy="1226344"/>
          </a:xfrm>
          <a:prstGeom prst="roundRect">
            <a:avLst>
              <a:gd name="adj" fmla="val 360041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3EA55DF5-F90C-100A-E66A-C3CABF8BAF56}"/>
              </a:ext>
            </a:extLst>
          </p:cNvPr>
          <p:cNvSpPr/>
          <p:nvPr/>
        </p:nvSpPr>
        <p:spPr>
          <a:xfrm>
            <a:off x="1633246" y="5836280"/>
            <a:ext cx="306586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4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3777749-7487-DA6F-1529-7967068E6905}"/>
              </a:ext>
            </a:extLst>
          </p:cNvPr>
          <p:cNvSpPr/>
          <p:nvPr/>
        </p:nvSpPr>
        <p:spPr>
          <a:xfrm>
            <a:off x="2399651" y="5470812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Giao diện &amp; Cảnh báo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EB2B0CF0-7F80-EF4B-A5BB-8E1CC43FBC09}"/>
              </a:ext>
            </a:extLst>
          </p:cNvPr>
          <p:cNvSpPr/>
          <p:nvPr/>
        </p:nvSpPr>
        <p:spPr>
          <a:xfrm>
            <a:off x="2399651" y="5912772"/>
            <a:ext cx="669155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Thiết kế UI/UX thân thiện và hệ thống cảnh báo thông minh.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C10591EB-71E5-E924-63EF-A4CFCDFD45FA}"/>
              </a:ext>
            </a:extLst>
          </p:cNvPr>
          <p:cNvSpPr/>
          <p:nvPr/>
        </p:nvSpPr>
        <p:spPr>
          <a:xfrm rot="14311189">
            <a:off x="166661" y="141025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192DA7E-134F-6CE6-E812-0269E8F965A5}"/>
              </a:ext>
            </a:extLst>
          </p:cNvPr>
          <p:cNvSpPr/>
          <p:nvPr/>
        </p:nvSpPr>
        <p:spPr>
          <a:xfrm rot="14311189">
            <a:off x="166662" y="270863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E8715E6-6861-5B36-8EBA-266C0A9620E6}"/>
              </a:ext>
            </a:extLst>
          </p:cNvPr>
          <p:cNvSpPr/>
          <p:nvPr/>
        </p:nvSpPr>
        <p:spPr>
          <a:xfrm rot="14311189">
            <a:off x="166660" y="4078016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9F922F9-CDB5-5273-B578-B9E76CB03DDA}"/>
              </a:ext>
            </a:extLst>
          </p:cNvPr>
          <p:cNvSpPr/>
          <p:nvPr/>
        </p:nvSpPr>
        <p:spPr>
          <a:xfrm rot="14311189">
            <a:off x="166661" y="54791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60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5F82-4ECA-6414-6AA9-BD19FE43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6E76E3D9-57D8-1550-1BBD-62A3A3A60057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48D03D14-62D7-4B57-A26B-063D363CBEE2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7BD3F98D-9BAC-1B36-B873-20B3ABFEA988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9C1396FD-C2A4-3901-0BFD-A5D3CD52F79A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69FA8230-F336-CDD7-8415-2C6585F67A2F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45DD3FBA-8677-3051-6C42-EEF091A1180F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AB9934D-2AC3-B50D-3F2F-9AC42BAA2297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B5AE080-E7FB-56BF-9318-87895148915B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DB246C-C7CE-DC0F-6182-4CDC17DD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D9C7A-8C91-DC7D-70F3-8408757C3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23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487FECE-0207-4EA9-5876-7B520AEE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DC4028A-BDEB-71A9-B3C4-604101509C22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3409ABC-6A40-1956-98D9-1CDEA856472A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8428729E-12C3-A1E1-AA4D-F2EBD72A5B40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073BAA4-F453-3CA7-D2F2-32C5C78E6F23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3395C8FF-0022-76E3-0FF9-6620D8D21400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3A79A78-7ED8-F8C6-0158-4186F59DC354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18FB0366-D436-BBBE-9AB1-8AAABF7E562B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69F02D8-236E-D5C8-5930-89ED2DF497E9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ACCEF09-6143-3A73-7723-445F4F6DBF26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59918AA-3074-6141-06F6-F208B87F4F7C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86C8A590-94AF-8F65-262E-7D7ABE1AA5C3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9800889-95E3-D2A4-1C04-9ABDF94FC518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EE6CA8-BE27-D16A-0ED2-FC86A3C290D8}"/>
              </a:ext>
            </a:extLst>
          </p:cNvPr>
          <p:cNvSpPr txBox="1"/>
          <p:nvPr/>
        </p:nvSpPr>
        <p:spPr>
          <a:xfrm>
            <a:off x="4332278" y="-1609849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E81BA8F-A0B8-B0ED-EE91-C9456AE8C284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48B1A3-8BC6-82AF-4996-79AC1EED54CC}"/>
              </a:ext>
            </a:extLst>
          </p:cNvPr>
          <p:cNvSpPr txBox="1"/>
          <p:nvPr/>
        </p:nvSpPr>
        <p:spPr>
          <a:xfrm>
            <a:off x="12823722" y="1060896"/>
            <a:ext cx="676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VÀ KIẾN NGHỊ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17811623-6ABB-DB10-99FA-6294B0B3FB05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0AAE2346-7B8B-EC2F-7A16-34C01C820137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39AF039C-79C0-B8F3-CF22-2CC8D247CBD0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AF32F194-F55C-65A5-B2DC-03BBE260B683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0F3F79B-7ACB-9709-EBC0-018F310CC90D}"/>
              </a:ext>
            </a:extLst>
          </p:cNvPr>
          <p:cNvSpPr/>
          <p:nvPr/>
        </p:nvSpPr>
        <p:spPr>
          <a:xfrm rot="14311189">
            <a:off x="10953469" y="2247490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6496CF0-8966-5EEF-6D6E-C2E50CCD4580}"/>
              </a:ext>
            </a:extLst>
          </p:cNvPr>
          <p:cNvSpPr/>
          <p:nvPr/>
        </p:nvSpPr>
        <p:spPr>
          <a:xfrm>
            <a:off x="4820698" y="4310172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5CB1B3-34EA-AC3C-8490-6C23E4657208}"/>
              </a:ext>
            </a:extLst>
          </p:cNvPr>
          <p:cNvSpPr txBox="1"/>
          <p:nvPr/>
        </p:nvSpPr>
        <p:spPr>
          <a:xfrm>
            <a:off x="5061044" y="4536391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5FFF70-3B31-C406-E2AA-ED3B2108EAE8}"/>
              </a:ext>
            </a:extLst>
          </p:cNvPr>
          <p:cNvSpPr txBox="1"/>
          <p:nvPr/>
        </p:nvSpPr>
        <p:spPr>
          <a:xfrm>
            <a:off x="13784107" y="4602022"/>
            <a:ext cx="559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1BEED3-7CBB-0095-DF8A-C498C268E48F}"/>
              </a:ext>
            </a:extLst>
          </p:cNvPr>
          <p:cNvCxnSpPr>
            <a:cxnSpLocks/>
          </p:cNvCxnSpPr>
          <p:nvPr/>
        </p:nvCxnSpPr>
        <p:spPr>
          <a:xfrm>
            <a:off x="5827646" y="5128018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AA1D94DC-9C27-E026-897D-0B70FDF3A4A9}"/>
              </a:ext>
            </a:extLst>
          </p:cNvPr>
          <p:cNvSpPr/>
          <p:nvPr/>
        </p:nvSpPr>
        <p:spPr>
          <a:xfrm>
            <a:off x="4820698" y="3087241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C9875D-2DEA-E403-0A0F-8B32BA9AF59D}"/>
              </a:ext>
            </a:extLst>
          </p:cNvPr>
          <p:cNvSpPr txBox="1"/>
          <p:nvPr/>
        </p:nvSpPr>
        <p:spPr>
          <a:xfrm>
            <a:off x="5061044" y="3313460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876AD4-4311-0C1F-9FD3-4C770035064F}"/>
              </a:ext>
            </a:extLst>
          </p:cNvPr>
          <p:cNvSpPr txBox="1"/>
          <p:nvPr/>
        </p:nvSpPr>
        <p:spPr>
          <a:xfrm>
            <a:off x="13749549" y="3389271"/>
            <a:ext cx="6188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Khó khăn gặp phải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D26268C-062C-C41B-26DE-0ACB43DEC786}"/>
              </a:ext>
            </a:extLst>
          </p:cNvPr>
          <p:cNvCxnSpPr>
            <a:cxnSpLocks/>
          </p:cNvCxnSpPr>
          <p:nvPr/>
        </p:nvCxnSpPr>
        <p:spPr>
          <a:xfrm>
            <a:off x="5827646" y="3905087"/>
            <a:ext cx="6154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046C5070-AC5A-1662-F281-EAA1609EC232}"/>
              </a:ext>
            </a:extLst>
          </p:cNvPr>
          <p:cNvSpPr/>
          <p:nvPr/>
        </p:nvSpPr>
        <p:spPr>
          <a:xfrm>
            <a:off x="4850237" y="1776945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B62FD6-DAEF-3270-FC4D-225EC9291593}"/>
              </a:ext>
            </a:extLst>
          </p:cNvPr>
          <p:cNvSpPr txBox="1"/>
          <p:nvPr/>
        </p:nvSpPr>
        <p:spPr>
          <a:xfrm>
            <a:off x="5090583" y="2003164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3A4314-AB50-7DBA-811F-355B22B193A3}"/>
              </a:ext>
            </a:extLst>
          </p:cNvPr>
          <p:cNvSpPr txBox="1"/>
          <p:nvPr/>
        </p:nvSpPr>
        <p:spPr>
          <a:xfrm>
            <a:off x="13813646" y="206879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DDFB61C-0370-3A0D-CE97-6F378EBF97BD}"/>
              </a:ext>
            </a:extLst>
          </p:cNvPr>
          <p:cNvCxnSpPr>
            <a:cxnSpLocks/>
          </p:cNvCxnSpPr>
          <p:nvPr/>
        </p:nvCxnSpPr>
        <p:spPr>
          <a:xfrm>
            <a:off x="5857185" y="2594791"/>
            <a:ext cx="32247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35A258A2-18E4-19A8-E93F-F1288D54E5AB}"/>
              </a:ext>
            </a:extLst>
          </p:cNvPr>
          <p:cNvSpPr/>
          <p:nvPr/>
        </p:nvSpPr>
        <p:spPr>
          <a:xfrm>
            <a:off x="4820698" y="5505021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9405D5-8734-9D75-A832-6E23DE32D984}"/>
              </a:ext>
            </a:extLst>
          </p:cNvPr>
          <p:cNvSpPr txBox="1"/>
          <p:nvPr/>
        </p:nvSpPr>
        <p:spPr>
          <a:xfrm>
            <a:off x="5061044" y="5731240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406E81-A1EA-9753-2C9D-530F727129F4}"/>
              </a:ext>
            </a:extLst>
          </p:cNvPr>
          <p:cNvSpPr txBox="1"/>
          <p:nvPr/>
        </p:nvSpPr>
        <p:spPr>
          <a:xfrm>
            <a:off x="13784107" y="5796871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Bài học rút ra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0003B0A-587A-8B7D-4A35-56D05EB27A36}"/>
              </a:ext>
            </a:extLst>
          </p:cNvPr>
          <p:cNvCxnSpPr>
            <a:cxnSpLocks/>
          </p:cNvCxnSpPr>
          <p:nvPr/>
        </p:nvCxnSpPr>
        <p:spPr>
          <a:xfrm>
            <a:off x="5827646" y="6322867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93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ABB9-7691-62BC-3C1E-520BB85F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A5730B71-AD28-8075-8E47-ED780897ECFC}"/>
              </a:ext>
            </a:extLst>
          </p:cNvPr>
          <p:cNvSpPr/>
          <p:nvPr/>
        </p:nvSpPr>
        <p:spPr>
          <a:xfrm rot="14311189">
            <a:off x="10223006" y="2668778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CA4602A2-9B63-1424-8C0D-7A402D3662E8}"/>
              </a:ext>
            </a:extLst>
          </p:cNvPr>
          <p:cNvSpPr/>
          <p:nvPr/>
        </p:nvSpPr>
        <p:spPr>
          <a:xfrm rot="14311189">
            <a:off x="10386486" y="2581819"/>
            <a:ext cx="588685" cy="670125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3A004AFF-0E3E-D7D6-CA9D-5D07BC5B28EC}"/>
              </a:ext>
            </a:extLst>
          </p:cNvPr>
          <p:cNvSpPr/>
          <p:nvPr/>
        </p:nvSpPr>
        <p:spPr>
          <a:xfrm rot="14311189">
            <a:off x="5916245" y="3566988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83CB8D30-23E0-163A-8A1F-7DC6806F18D0}"/>
              </a:ext>
            </a:extLst>
          </p:cNvPr>
          <p:cNvSpPr/>
          <p:nvPr/>
        </p:nvSpPr>
        <p:spPr>
          <a:xfrm rot="9448241">
            <a:off x="8177699" y="1028590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410FBAFE-3AB9-1410-688B-962D8E5FA8D8}"/>
              </a:ext>
            </a:extLst>
          </p:cNvPr>
          <p:cNvSpPr/>
          <p:nvPr/>
        </p:nvSpPr>
        <p:spPr>
          <a:xfrm rot="14311189">
            <a:off x="8289241" y="879974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964C520-AFF2-D726-DFAA-5A715AC887D9}"/>
              </a:ext>
            </a:extLst>
          </p:cNvPr>
          <p:cNvSpPr/>
          <p:nvPr/>
        </p:nvSpPr>
        <p:spPr>
          <a:xfrm rot="6982884">
            <a:off x="2897895" y="4000554"/>
            <a:ext cx="979077" cy="784392"/>
          </a:xfrm>
          <a:prstGeom prst="triangle">
            <a:avLst>
              <a:gd name="adj" fmla="val 60852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530B3B1-B82F-5D74-8207-6A5C08C68283}"/>
              </a:ext>
            </a:extLst>
          </p:cNvPr>
          <p:cNvSpPr/>
          <p:nvPr/>
        </p:nvSpPr>
        <p:spPr>
          <a:xfrm rot="10800000">
            <a:off x="2236114" y="3380684"/>
            <a:ext cx="1232510" cy="1276660"/>
          </a:xfrm>
          <a:prstGeom prst="triangle">
            <a:avLst>
              <a:gd name="adj" fmla="val 52271"/>
            </a:avLst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BF31BA4-BD50-0781-FED1-BAC1CCF2BD80}"/>
              </a:ext>
            </a:extLst>
          </p:cNvPr>
          <p:cNvSpPr/>
          <p:nvPr/>
        </p:nvSpPr>
        <p:spPr>
          <a:xfrm rot="10800000">
            <a:off x="854515" y="732876"/>
            <a:ext cx="3275888" cy="3227070"/>
          </a:xfrm>
          <a:prstGeom prst="triangle">
            <a:avLst>
              <a:gd name="adj" fmla="val 4925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ABEDE4-DE72-C48C-09B2-AFDCE447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473" y="55983"/>
            <a:ext cx="10085811" cy="625249"/>
          </a:xfrm>
          <a:ln>
            <a:noFill/>
          </a:ln>
        </p:spPr>
        <p:txBody>
          <a:bodyPr>
            <a:norm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sz="3500">
              <a:solidFill>
                <a:srgbClr val="2A8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55B6F-F43B-F2E7-3948-19D2BA388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00807DC7-69B7-4A49-8817-D463E23890B6}" type="slidenum">
              <a:rPr lang="en-US" smtClean="0"/>
              <a:t>24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8AB6A60-08FF-9D90-165F-AF6C2A9C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7533"/>
            <a:ext cx="9352721" cy="293771"/>
          </a:xfrm>
          <a:ln>
            <a:noFill/>
          </a:ln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63FE6C3-719C-F39B-C149-C761B9E47CA1}"/>
              </a:ext>
            </a:extLst>
          </p:cNvPr>
          <p:cNvSpPr/>
          <p:nvPr/>
        </p:nvSpPr>
        <p:spPr>
          <a:xfrm rot="3811640">
            <a:off x="-60232" y="1742540"/>
            <a:ext cx="3307923" cy="653664"/>
          </a:xfrm>
          <a:prstGeom prst="parallelogram">
            <a:avLst>
              <a:gd name="adj" fmla="val 49778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69002EAB-B46C-1FC7-006B-620970373622}"/>
              </a:ext>
            </a:extLst>
          </p:cNvPr>
          <p:cNvSpPr/>
          <p:nvPr/>
        </p:nvSpPr>
        <p:spPr>
          <a:xfrm rot="17927370" flipV="1">
            <a:off x="1056443" y="3688130"/>
            <a:ext cx="1743254" cy="639621"/>
          </a:xfrm>
          <a:prstGeom prst="parallelogram">
            <a:avLst>
              <a:gd name="adj" fmla="val 54630"/>
            </a:avLst>
          </a:prstGeom>
          <a:gradFill flip="none" rotWithShape="1">
            <a:gsLst>
              <a:gs pos="0">
                <a:srgbClr val="5357EF">
                  <a:shade val="30000"/>
                  <a:satMod val="115000"/>
                </a:srgbClr>
              </a:gs>
              <a:gs pos="50000">
                <a:srgbClr val="5357EF">
                  <a:shade val="67500"/>
                  <a:satMod val="115000"/>
                </a:srgbClr>
              </a:gs>
              <a:gs pos="100000">
                <a:srgbClr val="5357EF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8E948BC7-2F2C-D2DC-4202-955AFF2AC67C}"/>
              </a:ext>
            </a:extLst>
          </p:cNvPr>
          <p:cNvSpPr/>
          <p:nvPr/>
        </p:nvSpPr>
        <p:spPr>
          <a:xfrm rot="19163603" flipV="1">
            <a:off x="1033027" y="2584041"/>
            <a:ext cx="1191962" cy="446311"/>
          </a:xfrm>
          <a:prstGeom prst="parallelogram">
            <a:avLst>
              <a:gd name="adj" fmla="val 76766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487AB35-2BA4-E4AA-40E6-92F63EAECE52}"/>
              </a:ext>
            </a:extLst>
          </p:cNvPr>
          <p:cNvSpPr/>
          <p:nvPr/>
        </p:nvSpPr>
        <p:spPr>
          <a:xfrm rot="3814057">
            <a:off x="1433414" y="504394"/>
            <a:ext cx="1002641" cy="936446"/>
          </a:xfrm>
          <a:prstGeom prst="triangle">
            <a:avLst>
              <a:gd name="adj" fmla="val 462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AFD3B75E-1EE1-12AA-E10E-4116DE4DA7C2}"/>
              </a:ext>
            </a:extLst>
          </p:cNvPr>
          <p:cNvSpPr/>
          <p:nvPr/>
        </p:nvSpPr>
        <p:spPr>
          <a:xfrm rot="11497787" flipH="1">
            <a:off x="1114837" y="843765"/>
            <a:ext cx="1292299" cy="1632385"/>
          </a:xfrm>
          <a:prstGeom prst="diagStripe">
            <a:avLst>
              <a:gd name="adj" fmla="val 56198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88A4CD21-D51D-DD37-3931-144AB93ECC82}"/>
              </a:ext>
            </a:extLst>
          </p:cNvPr>
          <p:cNvSpPr/>
          <p:nvPr/>
        </p:nvSpPr>
        <p:spPr>
          <a:xfrm rot="10800000">
            <a:off x="3291034" y="726796"/>
            <a:ext cx="829785" cy="665116"/>
          </a:xfrm>
          <a:prstGeom prst="triangle">
            <a:avLst>
              <a:gd name="adj" fmla="val 39843"/>
            </a:avLst>
          </a:prstGeom>
          <a:gradFill flip="none" rotWithShape="1">
            <a:gsLst>
              <a:gs pos="0">
                <a:srgbClr val="151AE9">
                  <a:shade val="30000"/>
                  <a:satMod val="115000"/>
                </a:srgbClr>
              </a:gs>
              <a:gs pos="50000">
                <a:srgbClr val="151AE9">
                  <a:shade val="67500"/>
                  <a:satMod val="115000"/>
                </a:srgbClr>
              </a:gs>
              <a:gs pos="100000">
                <a:srgbClr val="151AE9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4EA2FBCC-9C53-3082-5C0B-A71641BACB24}"/>
              </a:ext>
            </a:extLst>
          </p:cNvPr>
          <p:cNvSpPr/>
          <p:nvPr/>
        </p:nvSpPr>
        <p:spPr>
          <a:xfrm rot="11022095" flipH="1">
            <a:off x="3266233" y="752431"/>
            <a:ext cx="824837" cy="948274"/>
          </a:xfrm>
          <a:prstGeom prst="diagStripe">
            <a:avLst>
              <a:gd name="adj" fmla="val 49349"/>
            </a:avLst>
          </a:prstGeom>
          <a:solidFill>
            <a:srgbClr val="5357E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3AE4336-D3A6-3DEB-F3EF-70B163F5AB9A}"/>
              </a:ext>
            </a:extLst>
          </p:cNvPr>
          <p:cNvSpPr/>
          <p:nvPr/>
        </p:nvSpPr>
        <p:spPr>
          <a:xfrm rot="10965236">
            <a:off x="2303709" y="1919022"/>
            <a:ext cx="543430" cy="398558"/>
          </a:xfrm>
          <a:prstGeom prst="triangle">
            <a:avLst>
              <a:gd name="adj" fmla="val 4829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B4B2B6AB-27C4-AF8A-4E16-6494ACDC28D1}"/>
              </a:ext>
            </a:extLst>
          </p:cNvPr>
          <p:cNvSpPr/>
          <p:nvPr/>
        </p:nvSpPr>
        <p:spPr>
          <a:xfrm rot="14311189">
            <a:off x="2234384" y="1275329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27F3D76-9916-68F3-9D25-D7BF300AC161}"/>
              </a:ext>
            </a:extLst>
          </p:cNvPr>
          <p:cNvSpPr/>
          <p:nvPr/>
        </p:nvSpPr>
        <p:spPr>
          <a:xfrm rot="14311189">
            <a:off x="475786" y="5228021"/>
            <a:ext cx="543813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A9D3C1-C0BA-5FF1-8FF8-C05842DFCAFF}"/>
              </a:ext>
            </a:extLst>
          </p:cNvPr>
          <p:cNvSpPr/>
          <p:nvPr/>
        </p:nvSpPr>
        <p:spPr>
          <a:xfrm rot="14311189">
            <a:off x="8633212" y="5054916"/>
            <a:ext cx="732421" cy="944198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658A007-218F-4EAC-F535-375C47F65C32}"/>
              </a:ext>
            </a:extLst>
          </p:cNvPr>
          <p:cNvSpPr/>
          <p:nvPr/>
        </p:nvSpPr>
        <p:spPr>
          <a:xfrm rot="14311189">
            <a:off x="139361" y="1802062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5DA26A-DB27-DD83-8200-77FC59C0B99A}"/>
              </a:ext>
            </a:extLst>
          </p:cNvPr>
          <p:cNvSpPr txBox="1"/>
          <p:nvPr/>
        </p:nvSpPr>
        <p:spPr>
          <a:xfrm>
            <a:off x="4249520" y="564848"/>
            <a:ext cx="688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8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216461D-58FB-22E6-F081-84B56CB036BC}"/>
              </a:ext>
            </a:extLst>
          </p:cNvPr>
          <p:cNvSpPr/>
          <p:nvPr/>
        </p:nvSpPr>
        <p:spPr>
          <a:xfrm>
            <a:off x="4855125" y="858499"/>
            <a:ext cx="45719" cy="7626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2986685-F252-17F9-A641-E194C46081B7}"/>
              </a:ext>
            </a:extLst>
          </p:cNvPr>
          <p:cNvSpPr txBox="1"/>
          <p:nvPr/>
        </p:nvSpPr>
        <p:spPr>
          <a:xfrm>
            <a:off x="4867261" y="908106"/>
            <a:ext cx="676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VÀ KIẾN NGHỊ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72373420-8A1E-4F4E-7C57-990664809BB4}"/>
              </a:ext>
            </a:extLst>
          </p:cNvPr>
          <p:cNvSpPr/>
          <p:nvPr/>
        </p:nvSpPr>
        <p:spPr>
          <a:xfrm rot="14311189">
            <a:off x="906882" y="3950721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3B072EA1-3B26-C07E-B2E4-D263479CE3D9}"/>
              </a:ext>
            </a:extLst>
          </p:cNvPr>
          <p:cNvSpPr/>
          <p:nvPr/>
        </p:nvSpPr>
        <p:spPr>
          <a:xfrm rot="14311189">
            <a:off x="355681" y="1962597"/>
            <a:ext cx="839953" cy="74200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719186B8-1BD6-36F0-C76A-9770A947A108}"/>
              </a:ext>
            </a:extLst>
          </p:cNvPr>
          <p:cNvSpPr/>
          <p:nvPr/>
        </p:nvSpPr>
        <p:spPr>
          <a:xfrm rot="14311189">
            <a:off x="3430873" y="2518741"/>
            <a:ext cx="443854" cy="439992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5CD7D252-1CA9-D026-C231-7637353AF829}"/>
              </a:ext>
            </a:extLst>
          </p:cNvPr>
          <p:cNvSpPr/>
          <p:nvPr/>
        </p:nvSpPr>
        <p:spPr>
          <a:xfrm rot="14311189">
            <a:off x="3605413" y="2470721"/>
            <a:ext cx="400430" cy="510911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C238AE6A-8AFE-C7A5-A121-B86A97133A5C}"/>
              </a:ext>
            </a:extLst>
          </p:cNvPr>
          <p:cNvSpPr/>
          <p:nvPr/>
        </p:nvSpPr>
        <p:spPr>
          <a:xfrm rot="14311189">
            <a:off x="10953469" y="2247490"/>
            <a:ext cx="466749" cy="409537"/>
          </a:xfrm>
          <a:prstGeom prst="triangle">
            <a:avLst>
              <a:gd name="adj" fmla="val 555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C384AC4-6196-DCBF-FCD6-1805045F5276}"/>
              </a:ext>
            </a:extLst>
          </p:cNvPr>
          <p:cNvSpPr/>
          <p:nvPr/>
        </p:nvSpPr>
        <p:spPr>
          <a:xfrm>
            <a:off x="4820698" y="4310172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4C7014-BE4D-B784-C077-381B3456C9EC}"/>
              </a:ext>
            </a:extLst>
          </p:cNvPr>
          <p:cNvSpPr txBox="1"/>
          <p:nvPr/>
        </p:nvSpPr>
        <p:spPr>
          <a:xfrm>
            <a:off x="5061044" y="4536391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3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EA88B-CDB5-0EED-5FE5-78FA20BF8EB7}"/>
              </a:ext>
            </a:extLst>
          </p:cNvPr>
          <p:cNvSpPr txBox="1"/>
          <p:nvPr/>
        </p:nvSpPr>
        <p:spPr>
          <a:xfrm>
            <a:off x="5827646" y="4449232"/>
            <a:ext cx="559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7B9623-82A7-F910-7A6F-23FD274EF7E8}"/>
              </a:ext>
            </a:extLst>
          </p:cNvPr>
          <p:cNvCxnSpPr>
            <a:cxnSpLocks/>
          </p:cNvCxnSpPr>
          <p:nvPr/>
        </p:nvCxnSpPr>
        <p:spPr>
          <a:xfrm>
            <a:off x="5827646" y="5128018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115E882C-26CF-8838-4A2E-E5CB1E3C9CE2}"/>
              </a:ext>
            </a:extLst>
          </p:cNvPr>
          <p:cNvSpPr/>
          <p:nvPr/>
        </p:nvSpPr>
        <p:spPr>
          <a:xfrm>
            <a:off x="4820698" y="3087241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BD0969-8CFD-A94C-936B-0175D2783CE0}"/>
              </a:ext>
            </a:extLst>
          </p:cNvPr>
          <p:cNvSpPr txBox="1"/>
          <p:nvPr/>
        </p:nvSpPr>
        <p:spPr>
          <a:xfrm>
            <a:off x="5061044" y="3313460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2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B5EF61-4B94-3C17-0A8C-E816B95DF816}"/>
              </a:ext>
            </a:extLst>
          </p:cNvPr>
          <p:cNvSpPr txBox="1"/>
          <p:nvPr/>
        </p:nvSpPr>
        <p:spPr>
          <a:xfrm>
            <a:off x="5793088" y="3236481"/>
            <a:ext cx="6188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Khó khăn gặp phải</a:t>
            </a:r>
            <a:br>
              <a:rPr lang="en-US"/>
            </a:b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569237A-FCED-CC97-1B23-D5DEC00E484E}"/>
              </a:ext>
            </a:extLst>
          </p:cNvPr>
          <p:cNvCxnSpPr>
            <a:cxnSpLocks/>
          </p:cNvCxnSpPr>
          <p:nvPr/>
        </p:nvCxnSpPr>
        <p:spPr>
          <a:xfrm>
            <a:off x="5827646" y="3905087"/>
            <a:ext cx="6154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9C5FDEC4-9ABF-2D2A-7527-8C4E8AA7830A}"/>
              </a:ext>
            </a:extLst>
          </p:cNvPr>
          <p:cNvSpPr/>
          <p:nvPr/>
        </p:nvSpPr>
        <p:spPr>
          <a:xfrm>
            <a:off x="4850237" y="1776945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BDDB38-33C3-39ED-47CC-CBF425004CEC}"/>
              </a:ext>
            </a:extLst>
          </p:cNvPr>
          <p:cNvSpPr txBox="1"/>
          <p:nvPr/>
        </p:nvSpPr>
        <p:spPr>
          <a:xfrm>
            <a:off x="5090583" y="2003164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1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111AAB-CDB9-A2C1-50D8-DC15135A6100}"/>
              </a:ext>
            </a:extLst>
          </p:cNvPr>
          <p:cNvSpPr txBox="1"/>
          <p:nvPr/>
        </p:nvSpPr>
        <p:spPr>
          <a:xfrm>
            <a:off x="5857185" y="1916005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3B5218-1AA4-CFE5-189A-9B74053B5F65}"/>
              </a:ext>
            </a:extLst>
          </p:cNvPr>
          <p:cNvCxnSpPr>
            <a:cxnSpLocks/>
          </p:cNvCxnSpPr>
          <p:nvPr/>
        </p:nvCxnSpPr>
        <p:spPr>
          <a:xfrm>
            <a:off x="5857185" y="2594791"/>
            <a:ext cx="32247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978220AA-BA33-F6B9-3104-5C318EA16CE9}"/>
              </a:ext>
            </a:extLst>
          </p:cNvPr>
          <p:cNvSpPr/>
          <p:nvPr/>
        </p:nvSpPr>
        <p:spPr>
          <a:xfrm>
            <a:off x="4820698" y="5505021"/>
            <a:ext cx="914400" cy="822960"/>
          </a:xfrm>
          <a:prstGeom prst="triangle">
            <a:avLst>
              <a:gd name="adj" fmla="val 49424"/>
            </a:avLst>
          </a:prstGeom>
          <a:solidFill>
            <a:srgbClr val="151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8B3253-0513-3150-C459-019FB65149DC}"/>
              </a:ext>
            </a:extLst>
          </p:cNvPr>
          <p:cNvSpPr txBox="1"/>
          <p:nvPr/>
        </p:nvSpPr>
        <p:spPr>
          <a:xfrm>
            <a:off x="5061044" y="5731240"/>
            <a:ext cx="4337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000" b="1">
                <a:solidFill>
                  <a:schemeClr val="bg1">
                    <a:lumMod val="75000"/>
                  </a:schemeClr>
                </a:solidFill>
                <a:latin typeface="+mj-lt"/>
              </a:rPr>
              <a:t>4</a:t>
            </a:r>
            <a:endParaRPr lang="en-US" sz="3000" b="1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783863-9791-DC9F-015B-4510645251EF}"/>
              </a:ext>
            </a:extLst>
          </p:cNvPr>
          <p:cNvSpPr txBox="1"/>
          <p:nvPr/>
        </p:nvSpPr>
        <p:spPr>
          <a:xfrm>
            <a:off x="5827646" y="5644081"/>
            <a:ext cx="559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Bài học rút ra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B67A4C7-902A-D65D-7E52-1533E85B6416}"/>
              </a:ext>
            </a:extLst>
          </p:cNvPr>
          <p:cNvCxnSpPr>
            <a:cxnSpLocks/>
          </p:cNvCxnSpPr>
          <p:nvPr/>
        </p:nvCxnSpPr>
        <p:spPr>
          <a:xfrm>
            <a:off x="5827646" y="6322867"/>
            <a:ext cx="32543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7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0712-D198-B253-862E-10A19362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86FF-B987-A807-7094-F1D6AFCB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0267A-D3AC-56D4-3B2E-4676B663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3B7E4B8-176A-4AFD-E474-EFB50769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03822"/>
            <a:ext cx="9352721" cy="293771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E0F0C2C-0C1B-8DBC-FD4C-80ED01FD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96" y="895961"/>
            <a:ext cx="1614011" cy="819452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D1B26F4C-1F14-A347-E6DC-D38F8CD590E5}"/>
              </a:ext>
            </a:extLst>
          </p:cNvPr>
          <p:cNvSpPr/>
          <p:nvPr/>
        </p:nvSpPr>
        <p:spPr>
          <a:xfrm>
            <a:off x="3343127" y="1129228"/>
            <a:ext cx="318968" cy="40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03E96E2-2E75-C47D-F5E8-3F6ECA90EE6A}"/>
              </a:ext>
            </a:extLst>
          </p:cNvPr>
          <p:cNvSpPr/>
          <p:nvPr/>
        </p:nvSpPr>
        <p:spPr>
          <a:xfrm>
            <a:off x="4532621" y="1129228"/>
            <a:ext cx="1440180" cy="35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Web React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11D63BF-B070-0932-8597-48AB8102F9EB}"/>
              </a:ext>
            </a:extLst>
          </p:cNvPr>
          <p:cNvSpPr/>
          <p:nvPr/>
        </p:nvSpPr>
        <p:spPr>
          <a:xfrm flipV="1">
            <a:off x="4362481" y="1652312"/>
            <a:ext cx="7254666" cy="45719"/>
          </a:xfrm>
          <a:prstGeom prst="roundRect">
            <a:avLst>
              <a:gd name="adj" fmla="val 625116"/>
            </a:avLst>
          </a:prstGeom>
          <a:solidFill>
            <a:srgbClr val="BACC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DF3E6E67-6E6B-BC37-156B-5D0952A4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790" y="1760593"/>
            <a:ext cx="3228022" cy="819452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1A63ABC8-22CF-B2BD-4E4E-9E27616D1A80}"/>
              </a:ext>
            </a:extLst>
          </p:cNvPr>
          <p:cNvSpPr/>
          <p:nvPr/>
        </p:nvSpPr>
        <p:spPr>
          <a:xfrm>
            <a:off x="3343127" y="1906707"/>
            <a:ext cx="318968" cy="40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6B68E6E-153D-7377-DFC4-5DC980A5D777}"/>
              </a:ext>
            </a:extLst>
          </p:cNvPr>
          <p:cNvSpPr/>
          <p:nvPr/>
        </p:nvSpPr>
        <p:spPr>
          <a:xfrm>
            <a:off x="5339627" y="1993860"/>
            <a:ext cx="1192768" cy="35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Power BI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F97EC9D-A73E-3E75-47F2-5FD8D0196376}"/>
              </a:ext>
            </a:extLst>
          </p:cNvPr>
          <p:cNvSpPr/>
          <p:nvPr/>
        </p:nvSpPr>
        <p:spPr>
          <a:xfrm>
            <a:off x="5169486" y="2562663"/>
            <a:ext cx="6447661" cy="45719"/>
          </a:xfrm>
          <a:prstGeom prst="roundRect">
            <a:avLst>
              <a:gd name="adj" fmla="val 625116"/>
            </a:avLst>
          </a:prstGeom>
          <a:solidFill>
            <a:srgbClr val="BACC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9C345314-0626-2AED-652C-CAF5FFAE6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784" y="2625225"/>
            <a:ext cx="4842034" cy="819452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EB0ED078-CB44-D9DE-7C52-84533F2A8CF8}"/>
              </a:ext>
            </a:extLst>
          </p:cNvPr>
          <p:cNvSpPr/>
          <p:nvPr/>
        </p:nvSpPr>
        <p:spPr>
          <a:xfrm>
            <a:off x="3343127" y="2771338"/>
            <a:ext cx="318968" cy="40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3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C8461-D7C5-BCF8-AC74-6C413344C99A}"/>
              </a:ext>
            </a:extLst>
          </p:cNvPr>
          <p:cNvSpPr/>
          <p:nvPr/>
        </p:nvSpPr>
        <p:spPr>
          <a:xfrm>
            <a:off x="6146632" y="2858492"/>
            <a:ext cx="1883331" cy="35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Mô hình LSTM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EF4B5049-14D9-B6EB-65A7-DC45E0D5E4B6}"/>
              </a:ext>
            </a:extLst>
          </p:cNvPr>
          <p:cNvSpPr/>
          <p:nvPr/>
        </p:nvSpPr>
        <p:spPr>
          <a:xfrm>
            <a:off x="5976493" y="3427295"/>
            <a:ext cx="5640654" cy="45719"/>
          </a:xfrm>
          <a:prstGeom prst="roundRect">
            <a:avLst>
              <a:gd name="adj" fmla="val 625116"/>
            </a:avLst>
          </a:prstGeom>
          <a:solidFill>
            <a:srgbClr val="BACC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DB28A300-8D7C-8C34-324F-7E1141ED0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0" y="3489857"/>
            <a:ext cx="6456164" cy="819452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37E22934-5951-9B4A-60B6-D57091FEE8EC}"/>
              </a:ext>
            </a:extLst>
          </p:cNvPr>
          <p:cNvSpPr/>
          <p:nvPr/>
        </p:nvSpPr>
        <p:spPr>
          <a:xfrm>
            <a:off x="3343008" y="3635970"/>
            <a:ext cx="318968" cy="40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4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449D7D3-4EC2-8AF0-34C4-B7404DD31220}"/>
              </a:ext>
            </a:extLst>
          </p:cNvPr>
          <p:cNvSpPr/>
          <p:nvPr/>
        </p:nvSpPr>
        <p:spPr>
          <a:xfrm>
            <a:off x="6953638" y="3723124"/>
            <a:ext cx="2736294" cy="35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Mục tiêu Hoàn thành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5B34861-D200-4710-71F4-E636707D98F3}"/>
              </a:ext>
            </a:extLst>
          </p:cNvPr>
          <p:cNvSpPr/>
          <p:nvPr/>
        </p:nvSpPr>
        <p:spPr>
          <a:xfrm>
            <a:off x="270660" y="4455422"/>
            <a:ext cx="11346487" cy="2006167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0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D5CE-1B12-05CB-08F7-151E9234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EED-E958-24C6-5117-6C402935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7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KHÓA KHĂN GẶP PHẢI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F92E0-807D-DD51-6EDE-E99624D7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2BC61BE-29CC-8536-E91E-4BC5CDA0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9540"/>
            <a:ext cx="9352721" cy="358460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E06A4438-4D2D-E1DB-E470-96CC1227A49F}"/>
              </a:ext>
            </a:extLst>
          </p:cNvPr>
          <p:cNvSpPr/>
          <p:nvPr/>
        </p:nvSpPr>
        <p:spPr>
          <a:xfrm>
            <a:off x="545794" y="1792638"/>
            <a:ext cx="3163530" cy="1685092"/>
          </a:xfrm>
          <a:prstGeom prst="roundRect">
            <a:avLst>
              <a:gd name="adj" fmla="val 32306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FA32648D-D08F-8606-0C5F-8B8AF4CBC50D}"/>
              </a:ext>
            </a:extLst>
          </p:cNvPr>
          <p:cNvSpPr/>
          <p:nvPr/>
        </p:nvSpPr>
        <p:spPr>
          <a:xfrm>
            <a:off x="780228" y="2027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FA826EFB-6B71-705E-0069-33B629F5BC43}"/>
              </a:ext>
            </a:extLst>
          </p:cNvPr>
          <p:cNvSpPr/>
          <p:nvPr/>
        </p:nvSpPr>
        <p:spPr>
          <a:xfrm>
            <a:off x="780228" y="2517491"/>
            <a:ext cx="29290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Thiếu hụt, không đồng nhất, và nhiễu.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BE074C66-497C-A8B8-BB31-09FDDCA697FE}"/>
              </a:ext>
            </a:extLst>
          </p:cNvPr>
          <p:cNvSpPr/>
          <p:nvPr/>
        </p:nvSpPr>
        <p:spPr>
          <a:xfrm>
            <a:off x="3943758" y="1799334"/>
            <a:ext cx="3195996" cy="1685092"/>
          </a:xfrm>
          <a:prstGeom prst="roundRect">
            <a:avLst>
              <a:gd name="adj" fmla="val 32306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B534C584-E830-BEF3-F6F4-E659DCA31199}"/>
              </a:ext>
            </a:extLst>
          </p:cNvPr>
          <p:cNvSpPr/>
          <p:nvPr/>
        </p:nvSpPr>
        <p:spPr>
          <a:xfrm>
            <a:off x="4178191" y="2033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Mô hình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902407BC-B017-B1A0-FCB0-25E844459974}"/>
              </a:ext>
            </a:extLst>
          </p:cNvPr>
          <p:cNvSpPr/>
          <p:nvPr/>
        </p:nvSpPr>
        <p:spPr>
          <a:xfrm>
            <a:off x="4178191" y="2524187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Nguy cơ overfitting, khó tối ưu hóa.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76D53B4A-7D18-1B49-F130-F7C38FBBFC01}"/>
              </a:ext>
            </a:extLst>
          </p:cNvPr>
          <p:cNvSpPr/>
          <p:nvPr/>
        </p:nvSpPr>
        <p:spPr>
          <a:xfrm>
            <a:off x="545795" y="3704544"/>
            <a:ext cx="6593960" cy="1322189"/>
          </a:xfrm>
          <a:prstGeom prst="roundRect">
            <a:avLst>
              <a:gd name="adj" fmla="val 41173"/>
            </a:avLst>
          </a:prstGeom>
          <a:solidFill>
            <a:srgbClr val="D4E6F7"/>
          </a:solidFill>
          <a:ln w="7620">
            <a:solidFill>
              <a:srgbClr val="B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4802A8D-7E96-9F33-4C08-28345C398419}"/>
              </a:ext>
            </a:extLst>
          </p:cNvPr>
          <p:cNvSpPr/>
          <p:nvPr/>
        </p:nvSpPr>
        <p:spPr>
          <a:xfrm>
            <a:off x="780228" y="3938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Thời gian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113663CE-C5B7-975D-9BDD-31696235677A}"/>
              </a:ext>
            </a:extLst>
          </p:cNvPr>
          <p:cNvSpPr/>
          <p:nvPr/>
        </p:nvSpPr>
        <p:spPr>
          <a:xfrm>
            <a:off x="780228" y="442939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Hạn chế trong giai đoạn thực tập.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1A1EF96-D4FD-4BAD-05D9-9948D25C8286}"/>
              </a:ext>
            </a:extLst>
          </p:cNvPr>
          <p:cNvSpPr/>
          <p:nvPr/>
        </p:nvSpPr>
        <p:spPr>
          <a:xfrm>
            <a:off x="7978616" y="1094509"/>
            <a:ext cx="3867921" cy="465688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58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3D94-4B17-D70A-168F-FB29911F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FE5EF-68C5-682B-5CCB-C973354B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CC08A-DBA4-8632-CEFB-FC4522A3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4DCE753-B431-3433-DDFE-06BAA514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30480" y="6512216"/>
            <a:ext cx="9352721" cy="358460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CBFDAED-6DEC-0C10-B60A-2DEA3F79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92" y="1371013"/>
            <a:ext cx="1134070" cy="136088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45244BA-B203-9CCF-E1FB-D5966694BBA2}"/>
              </a:ext>
            </a:extLst>
          </p:cNvPr>
          <p:cNvSpPr/>
          <p:nvPr/>
        </p:nvSpPr>
        <p:spPr>
          <a:xfrm>
            <a:off x="1745176" y="15978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Mở rộng 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7E88B2A-228F-A406-7CE2-23F5DE73E83C}"/>
              </a:ext>
            </a:extLst>
          </p:cNvPr>
          <p:cNvSpPr/>
          <p:nvPr/>
        </p:nvSpPr>
        <p:spPr>
          <a:xfrm>
            <a:off x="1745176" y="20882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Phạm vi dự báo toàn quốc.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7A15B8E-68BA-2EA5-7555-2B6A9FC48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92" y="2731897"/>
            <a:ext cx="1134070" cy="136088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538349DD-B889-5C04-5AC2-1FFA7D41AB3C}"/>
              </a:ext>
            </a:extLst>
          </p:cNvPr>
          <p:cNvSpPr/>
          <p:nvPr/>
        </p:nvSpPr>
        <p:spPr>
          <a:xfrm>
            <a:off x="1745176" y="2958711"/>
            <a:ext cx="2955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Dự báo Thời gian Thực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DBA23E5-1EB2-16D4-5A0D-A908D374008C}"/>
              </a:ext>
            </a:extLst>
          </p:cNvPr>
          <p:cNvSpPr/>
          <p:nvPr/>
        </p:nvSpPr>
        <p:spPr>
          <a:xfrm>
            <a:off x="1745176" y="3449130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Cung cấp thông tin tức thì.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03E7B0CA-E429-EB51-325F-C9732F4D0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92" y="4092782"/>
            <a:ext cx="1134070" cy="136088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3F2C79A-A132-A76F-B91B-43C318B2D4F5}"/>
              </a:ext>
            </a:extLst>
          </p:cNvPr>
          <p:cNvSpPr/>
          <p:nvPr/>
        </p:nvSpPr>
        <p:spPr>
          <a:xfrm>
            <a:off x="1745176" y="4319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Mô hình Kết hợp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3441572-4074-9401-FE54-EA0C4BF61531}"/>
              </a:ext>
            </a:extLst>
          </p:cNvPr>
          <p:cNvSpPr/>
          <p:nvPr/>
        </p:nvSpPr>
        <p:spPr>
          <a:xfrm>
            <a:off x="1745176" y="481001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CNN, Transformer để tăng cường độ chính xác.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473195-FE0B-4B83-BB25-E49A2C20BD02}"/>
              </a:ext>
            </a:extLst>
          </p:cNvPr>
          <p:cNvSpPr/>
          <p:nvPr/>
        </p:nvSpPr>
        <p:spPr>
          <a:xfrm>
            <a:off x="7786255" y="1080655"/>
            <a:ext cx="4195155" cy="3750945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2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C4E2-535F-B24B-B3A6-B83980AF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6678-CB33-2419-6F79-E2196476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71384"/>
            <a:ext cx="11240621" cy="554781"/>
          </a:xfrm>
        </p:spPr>
        <p:txBody>
          <a:bodyPr>
            <a:noAutofit/>
          </a:bodyPr>
          <a:lstStyle/>
          <a:p>
            <a:r>
              <a:rPr lang="vi-VN" sz="3500">
                <a:latin typeface="Times New Roman" panose="02020603050405020304" pitchFamily="18" charset="0"/>
                <a:cs typeface="Times New Roman" panose="02020603050405020304" pitchFamily="18" charset="0"/>
              </a:rPr>
              <a:t>BÀI HỌC RÚT RA</a:t>
            </a:r>
            <a:endParaRPr lang="en-US" sz="3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01ABB-7425-88FF-0B8B-F451F052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2A148B4-E427-85BC-90E5-227D2AF9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03174"/>
            <a:ext cx="9352721" cy="293771"/>
          </a:xfrm>
        </p:spPr>
        <p:txBody>
          <a:bodyPr/>
          <a:lstStyle/>
          <a:p>
            <a:r>
              <a:rPr lang="vi-VN" i="1"/>
              <a:t>Xây Dựng Mô Hình Dự Đoán Thời Tiết Ngắn Hạn Dựa Trên Dữ Liệu Khí Tượng </a:t>
            </a:r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A6B635A1-D10E-26F4-DD7C-AD6681D248D0}"/>
              </a:ext>
            </a:extLst>
          </p:cNvPr>
          <p:cNvSpPr/>
          <p:nvPr/>
        </p:nvSpPr>
        <p:spPr>
          <a:xfrm>
            <a:off x="1167196" y="1246622"/>
            <a:ext cx="4677247" cy="2040493"/>
          </a:xfrm>
          <a:prstGeom prst="roundRect">
            <a:avLst>
              <a:gd name="adj" fmla="val 7170"/>
            </a:avLst>
          </a:prstGeom>
          <a:solidFill>
            <a:srgbClr val="B0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B53E241-0A83-939D-FF94-3665FE06120D}"/>
              </a:ext>
            </a:extLst>
          </p:cNvPr>
          <p:cNvSpPr/>
          <p:nvPr/>
        </p:nvSpPr>
        <p:spPr>
          <a:xfrm>
            <a:off x="1167196" y="1216414"/>
            <a:ext cx="4677247" cy="166568"/>
          </a:xfrm>
          <a:prstGeom prst="roundRect">
            <a:avLst>
              <a:gd name="adj" fmla="val 78139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D1E2E87-9D2D-FF5A-41BF-3A9BC6CA3F67}"/>
              </a:ext>
            </a:extLst>
          </p:cNvPr>
          <p:cNvSpPr/>
          <p:nvPr/>
        </p:nvSpPr>
        <p:spPr>
          <a:xfrm>
            <a:off x="3224433" y="88578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C0F48B62-ED5A-80C9-139E-749E7B2ED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8507" y="1089855"/>
            <a:ext cx="272177" cy="272177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0E0C1D7B-09FA-B976-6A63-AB0C14551B6B}"/>
              </a:ext>
            </a:extLst>
          </p:cNvPr>
          <p:cNvSpPr/>
          <p:nvPr/>
        </p:nvSpPr>
        <p:spPr>
          <a:xfrm>
            <a:off x="1167196" y="1813870"/>
            <a:ext cx="46772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Kỹ năng Xử lý 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6B4FE9D-948D-13CB-44AD-FA09E40A75F5}"/>
              </a:ext>
            </a:extLst>
          </p:cNvPr>
          <p:cNvSpPr/>
          <p:nvPr/>
        </p:nvSpPr>
        <p:spPr>
          <a:xfrm>
            <a:off x="1167196" y="2466928"/>
            <a:ext cx="4677246" cy="41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Tiền xử lý, làm sạch và phân tích.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F775ABEC-2616-2FB8-7925-9FC60D25DF98}"/>
              </a:ext>
            </a:extLst>
          </p:cNvPr>
          <p:cNvSpPr/>
          <p:nvPr/>
        </p:nvSpPr>
        <p:spPr>
          <a:xfrm>
            <a:off x="6412809" y="1216414"/>
            <a:ext cx="4677247" cy="2040493"/>
          </a:xfrm>
          <a:prstGeom prst="roundRect">
            <a:avLst>
              <a:gd name="adj" fmla="val 7170"/>
            </a:avLst>
          </a:prstGeom>
          <a:solidFill>
            <a:srgbClr val="B0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3D81704D-6AA9-2527-10E8-9995761B7184}"/>
              </a:ext>
            </a:extLst>
          </p:cNvPr>
          <p:cNvSpPr/>
          <p:nvPr/>
        </p:nvSpPr>
        <p:spPr>
          <a:xfrm>
            <a:off x="6412809" y="1185933"/>
            <a:ext cx="4677247" cy="126865"/>
          </a:xfrm>
          <a:prstGeom prst="roundRect">
            <a:avLst>
              <a:gd name="adj" fmla="val 78139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2EADBD30-65C2-D41B-36D8-EA16B3310EE3}"/>
              </a:ext>
            </a:extLst>
          </p:cNvPr>
          <p:cNvSpPr/>
          <p:nvPr/>
        </p:nvSpPr>
        <p:spPr>
          <a:xfrm>
            <a:off x="8346839" y="85574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329C72DA-5214-1E4D-FC06-D0177A15F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912" y="1059814"/>
            <a:ext cx="272177" cy="272177"/>
          </a:xfrm>
          <a:prstGeom prst="rect">
            <a:avLst/>
          </a:prstGeom>
        </p:spPr>
      </p:pic>
      <p:sp>
        <p:nvSpPr>
          <p:cNvPr id="21" name="Text 9">
            <a:extLst>
              <a:ext uri="{FF2B5EF4-FFF2-40B4-BE49-F238E27FC236}">
                <a16:creationId xmlns:a16="http://schemas.microsoft.com/office/drawing/2014/main" id="{A182354C-FBAE-36B3-E500-7BA7BA8A01BE}"/>
              </a:ext>
            </a:extLst>
          </p:cNvPr>
          <p:cNvSpPr/>
          <p:nvPr/>
        </p:nvSpPr>
        <p:spPr>
          <a:xfrm>
            <a:off x="6412809" y="1803344"/>
            <a:ext cx="46772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Tư duy Mô hình hóa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6C731D9B-5E65-5BB5-9252-205437582223}"/>
              </a:ext>
            </a:extLst>
          </p:cNvPr>
          <p:cNvSpPr/>
          <p:nvPr/>
        </p:nvSpPr>
        <p:spPr>
          <a:xfrm>
            <a:off x="6412808" y="2426837"/>
            <a:ext cx="4677247" cy="44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Lựa chọn và tối ưu hóa giải pháp.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F043DB76-8500-07BA-021F-09C50F091BE4}"/>
              </a:ext>
            </a:extLst>
          </p:cNvPr>
          <p:cNvSpPr/>
          <p:nvPr/>
        </p:nvSpPr>
        <p:spPr>
          <a:xfrm>
            <a:off x="2317789" y="3894438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B0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94B2165A-03A5-D8E2-7775-C54D0906E959}"/>
              </a:ext>
            </a:extLst>
          </p:cNvPr>
          <p:cNvSpPr/>
          <p:nvPr/>
        </p:nvSpPr>
        <p:spPr>
          <a:xfrm>
            <a:off x="2317789" y="3863958"/>
            <a:ext cx="7556421" cy="121920"/>
          </a:xfrm>
          <a:prstGeom prst="roundRect">
            <a:avLst>
              <a:gd name="adj" fmla="val 78139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955F591-34CB-CC73-4BA3-FD034E8028F2}"/>
              </a:ext>
            </a:extLst>
          </p:cNvPr>
          <p:cNvSpPr/>
          <p:nvPr/>
        </p:nvSpPr>
        <p:spPr>
          <a:xfrm>
            <a:off x="5755778" y="355427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A81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8EEF6A29-BBCF-96E2-3080-DF5C41DC0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9851" y="3758349"/>
            <a:ext cx="272177" cy="272177"/>
          </a:xfrm>
          <a:prstGeom prst="rect">
            <a:avLst/>
          </a:prstGeom>
        </p:spPr>
      </p:pic>
      <p:sp>
        <p:nvSpPr>
          <p:cNvPr id="27" name="Text 14">
            <a:extLst>
              <a:ext uri="{FF2B5EF4-FFF2-40B4-BE49-F238E27FC236}">
                <a16:creationId xmlns:a16="http://schemas.microsoft.com/office/drawing/2014/main" id="{3EE3B705-9291-498E-756C-1A6FA956D839}"/>
              </a:ext>
            </a:extLst>
          </p:cNvPr>
          <p:cNvSpPr/>
          <p:nvPr/>
        </p:nvSpPr>
        <p:spPr>
          <a:xfrm>
            <a:off x="2317789" y="4420337"/>
            <a:ext cx="75564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vi-VN" sz="3000" b="1">
                <a:solidFill>
                  <a:srgbClr val="000000"/>
                </a:solidFill>
                <a:latin typeface="Times New Roman" panose="02020603050405020304" pitchFamily="18" charset="0"/>
                <a:ea typeface="Nunito Sans Bold" pitchFamily="34" charset="-122"/>
                <a:cs typeface="Times New Roman" panose="02020603050405020304" pitchFamily="18" charset="0"/>
              </a:rPr>
              <a:t>Có kinh nghiệm thực tế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39BDE1BF-BDC9-1EFF-C36D-A6D7D6121EF1}"/>
              </a:ext>
            </a:extLst>
          </p:cNvPr>
          <p:cNvSpPr/>
          <p:nvPr/>
        </p:nvSpPr>
        <p:spPr>
          <a:xfrm>
            <a:off x="2575083" y="4951832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Hợp tác hiệu quả trong môi trường doanh nghiệp.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896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E121-2E20-DF18-FEED-19A96D26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D2C42-2035-F483-EE81-E24F1B49815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978400" y="5558802"/>
            <a:ext cx="5608320" cy="5018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TP. HỒ CHÍ MINH, </a:t>
            </a: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  THÁNG </a:t>
            </a:r>
            <a:r>
              <a:rPr lang="vi-VN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NĂM</a:t>
            </a:r>
            <a:r>
              <a:rPr lang="vi-VN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05BF922-5E28-713F-3C2E-0EB04717F374}"/>
              </a:ext>
            </a:extLst>
          </p:cNvPr>
          <p:cNvSpPr txBox="1">
            <a:spLocks/>
          </p:cNvSpPr>
          <p:nvPr/>
        </p:nvSpPr>
        <p:spPr>
          <a:xfrm>
            <a:off x="1863310" y="1880939"/>
            <a:ext cx="9104670" cy="1908443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TRÂN TRỌNG CẢM ƠN </a:t>
            </a:r>
            <a:b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QUÝ THẦY CÔ HỘI ĐỒNG KHOA HỌC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CD6FE-8C0D-D90C-7BA3-9D222ACE84F2}"/>
              </a:ext>
            </a:extLst>
          </p:cNvPr>
          <p:cNvSpPr txBox="1"/>
          <p:nvPr/>
        </p:nvSpPr>
        <p:spPr>
          <a:xfrm>
            <a:off x="66339" y="166392"/>
            <a:ext cx="120593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lang="en-US" sz="35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CÁO THỰC TẬP </a:t>
            </a:r>
            <a:r>
              <a:rPr lang="en-US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 NGHIỆP</a:t>
            </a:r>
          </a:p>
        </p:txBody>
      </p:sp>
    </p:spTree>
    <p:extLst>
      <p:ext uri="{BB962C8B-B14F-4D97-AF65-F5344CB8AC3E}">
        <p14:creationId xmlns:p14="http://schemas.microsoft.com/office/powerpoint/2010/main" val="106263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2692</TotalTime>
  <Words>1690</Words>
  <Application>Microsoft Office PowerPoint</Application>
  <PresentationFormat>Widescreen</PresentationFormat>
  <Paragraphs>332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Bahnschrift SemiBold Condensed</vt:lpstr>
      <vt:lpstr>Calibri</vt:lpstr>
      <vt:lpstr>Inter Bold</vt:lpstr>
      <vt:lpstr>Symbol</vt:lpstr>
      <vt:lpstr>Times New Roman</vt:lpstr>
      <vt:lpstr>Retrospect</vt:lpstr>
      <vt:lpstr>PowerPoint Presentation</vt:lpstr>
      <vt:lpstr>TỔNG QUAN</vt:lpstr>
      <vt:lpstr>TỔNG QUAN</vt:lpstr>
      <vt:lpstr>TỔNG QUAN</vt:lpstr>
      <vt:lpstr>TỔNG QUAN</vt:lpstr>
      <vt:lpstr>GIỚI THIỆU CÔNG TY PHẦN MỀM GNN</vt:lpstr>
      <vt:lpstr>VỊ TRÍ &amp; NHIỆM VỤ THỰC TẬP</vt:lpstr>
      <vt:lpstr>LÝ DO CHỌN ĐỀ TÀI</vt:lpstr>
      <vt:lpstr>MỤC TIÊU NGHIÊN CỨU</vt:lpstr>
      <vt:lpstr>TỔNG QUAN BÀI TOÁN</vt:lpstr>
      <vt:lpstr>TỔNG QUAN</vt:lpstr>
      <vt:lpstr>TỔNG QUAN</vt:lpstr>
      <vt:lpstr>TIỀN XỬ LÝ DỮ LIỆU</vt:lpstr>
      <vt:lpstr>HUẤN LUYỆN MÔ HÌNH ARIMA &amp; LSTM</vt:lpstr>
      <vt:lpstr>CÔNG CỤ TRIỂN KHAI</vt:lpstr>
      <vt:lpstr>TỔNG QUAN</vt:lpstr>
      <vt:lpstr>TỔNG QUAN</vt:lpstr>
      <vt:lpstr>DỮ LIỆU KHÍ TƯỢNG</vt:lpstr>
      <vt:lpstr>TRỰC QUAN HÓA POWER BI</vt:lpstr>
      <vt:lpstr>KẾT QUẢ MÔ HÌNH COLAB</vt:lpstr>
      <vt:lpstr>ĐÁNH GIÁ HIỆU NĂNG</vt:lpstr>
      <vt:lpstr>DỰ BÁO WEB VS CODE</vt:lpstr>
      <vt:lpstr>TỔNG QUAN</vt:lpstr>
      <vt:lpstr>TỔNG QUAN</vt:lpstr>
      <vt:lpstr>KẾT LUẬN</vt:lpstr>
      <vt:lpstr>KHÓA KHĂN GẶP PHẢI</vt:lpstr>
      <vt:lpstr>HƯỚNG PHÁT TRIỂN</vt:lpstr>
      <vt:lpstr>BÀI HỌC RÚT 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 Vuong</dc:creator>
  <cp:lastModifiedBy>kha lê</cp:lastModifiedBy>
  <cp:revision>234</cp:revision>
  <dcterms:created xsi:type="dcterms:W3CDTF">2024-11-30T00:58:53Z</dcterms:created>
  <dcterms:modified xsi:type="dcterms:W3CDTF">2025-12-19T01:39:19Z</dcterms:modified>
</cp:coreProperties>
</file>