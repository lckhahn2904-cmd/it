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9" r:id="rId12"/>
    <p:sldId id="270" r:id="rId13"/>
    <p:sldId id="266" r:id="rId14"/>
    <p:sldId id="271" r:id="rId15"/>
    <p:sldId id="272" r:id="rId16"/>
    <p:sldId id="273" r:id="rId17"/>
    <p:sldId id="274" r:id="rId18"/>
    <p:sldId id="276" r:id="rId19"/>
    <p:sldId id="267" r:id="rId20"/>
    <p:sldId id="268" r:id="rId21"/>
    <p:sldId id="277" r:id="rId22"/>
  </p:sldIdLst>
  <p:sldSz cx="14630400" cy="8229600"/>
  <p:notesSz cx="8229600" cy="14630400"/>
  <p:embeddedFontLst>
    <p:embeddedFont>
      <p:font typeface="Quattrocento" panose="020205020300000004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948"/>
    <a:srgbClr val="31525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40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11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60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8DF85-B8A8-3674-5FC1-509F0405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014E2-3DF5-EF66-0DD2-82DE22B9D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55050-C59E-EF4D-DC8D-B5569CA57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912BC-671F-5F55-7905-906D23F6D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71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B382-67D5-5F15-6686-105576E2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B63EC-6E54-AE32-447F-F9AFF4B58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4DE72-2107-BA61-D079-D252C1C8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1D59F-D1EC-E409-8787-65E6EFC81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45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D3E46-88B5-8363-DCD4-A8D51F81F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FBB2B-A729-C456-C679-B3DAB009A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DBBA1-80B7-BAE1-621D-56A0B35AA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61D99-6F64-3DBD-C802-A5A81CBFA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717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571D2-0617-0CF7-8BCB-6D6EEA80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B20A8-1BD5-FB3E-CB92-D3BCFE3B5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459B3-EA7E-2BDE-8DE4-D5BC2E771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0012F-93E5-CCBB-2137-A55E4FA46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52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D8390-E3C7-1489-1374-57FE26C1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B54C32-2A47-B4F3-F12C-94B4ABA6A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1779C-3BC9-DA32-A0F1-2166D3112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333FF-6E1D-6666-A76B-439B8ECB21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87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50147-C2F3-1573-654B-3303DE05F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14B14-8EF8-96EE-FFC4-F8B260A5E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E8516-B2E6-BD92-193A-7F2E6D757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D1DF6-99CC-EC23-E83A-6EF55AE1D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76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775C3-32EF-BDEB-2766-A0647C8F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D56C9-9DE7-47FC-0BAB-EC9836D5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2E829-E45B-4A0E-0E73-2A9E343D2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DD0CE-542F-ECFA-846D-36AAA4810F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2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6076709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58716"/>
            <a:ext cx="7919677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QUẢ HOẠT ĐỘNG KINH DOANH THƯƠNG MẠI TẠI</a:t>
            </a:r>
            <a:r>
              <a:rPr lang="vi-VN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TẬP ĐOÀN</a:t>
            </a:r>
            <a:r>
              <a:rPr lang="en-US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CÔNG TY </a:t>
            </a:r>
            <a:r>
              <a:rPr lang="vi-VN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INDITEX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and gold logo&#10;&#10;AI-generated content may be incorrect.">
            <a:extLst>
              <a:ext uri="{FF2B5EF4-FFF2-40B4-BE49-F238E27FC236}">
                <a16:creationId xmlns:a16="http://schemas.microsoft.com/office/drawing/2014/main" id="{9121D107-BB76-D556-C7D7-D8452208C6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097" t="24891" r="30840" b="23348"/>
          <a:stretch/>
        </p:blipFill>
        <p:spPr>
          <a:xfrm>
            <a:off x="13231821" y="138897"/>
            <a:ext cx="1011980" cy="960697"/>
          </a:xfrm>
          <a:prstGeom prst="rect">
            <a:avLst/>
          </a:prstGeom>
        </p:spPr>
      </p:pic>
      <p:pic>
        <p:nvPicPr>
          <p:cNvPr id="7" name="Picture 6" descr="A blue circle with white text and a head in a computer screen&#10;&#10;AI-generated content may be incorrect.">
            <a:extLst>
              <a:ext uri="{FF2B5EF4-FFF2-40B4-BE49-F238E27FC236}">
                <a16:creationId xmlns:a16="http://schemas.microsoft.com/office/drawing/2014/main" id="{FA3D9A5B-F92C-23DB-F07B-E74CD9A269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316" y="138897"/>
            <a:ext cx="1011981" cy="9606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22194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Giới thiệu về Nhóm 6: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37724" y="3284934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Chào mừng bạn đến với phần giới thiệu về nhóm 6 của chúng tôi. Chúng tôi rất vui được chia sẻ kết quả kinh doanh thương mại tại công ty </a:t>
            </a:r>
            <a:r>
              <a:rPr lang="vi-VN" sz="22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Inditex</a:t>
            </a:r>
            <a:r>
              <a:rPr lang="en-US" sz="22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7724" y="432018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Gồm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có Thành Viên:</a:t>
            </a:r>
            <a:endParaRPr lang="vi-VN" sz="2400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algn="l">
              <a:lnSpc>
                <a:spcPts val="3000"/>
              </a:lnSpc>
            </a:pPr>
            <a:endParaRPr lang="vi-VN" sz="2400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971550" indent="-573088" algn="l">
              <a:lnSpc>
                <a:spcPts val="3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Lê Chí Kha _ 2200002544</a:t>
            </a:r>
            <a:endParaRPr lang="vi-VN" sz="2400" b="1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398462" algn="l">
              <a:lnSpc>
                <a:spcPts val="3000"/>
              </a:lnSpc>
            </a:pPr>
            <a:endParaRPr lang="vi-VN" sz="2400" b="1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914400" indent="-509588" algn="l">
              <a:lnSpc>
                <a:spcPts val="3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Đỗ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Kim Anh _ 2200002643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94304"/>
            <a:ext cx="7468553" cy="919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Nội dung thuyết </a:t>
            </a:r>
            <a:r>
              <a:rPr lang="en-US" sz="44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trình</a:t>
            </a:r>
            <a:r>
              <a:rPr lang="en-US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44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gồm: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106984" y="245747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43845" y="2555909"/>
            <a:ext cx="3245170" cy="59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Tổng quát về </a:t>
            </a:r>
            <a:r>
              <a:rPr lang="vi-VN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Bán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Hàng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33615" y="381347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49874" y="3941629"/>
            <a:ext cx="4401475" cy="66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quả doanh thu theo cửa hàng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890337" y="4274041"/>
            <a:ext cx="28367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33615" y="5169470"/>
            <a:ext cx="538520" cy="538520"/>
          </a:xfrm>
          <a:prstGeom prst="roundRect">
            <a:avLst>
              <a:gd name="adj" fmla="val 0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43845" y="52857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quả theo thời gian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469493" y="5365075"/>
            <a:ext cx="28367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06984" y="652546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843845" y="6561602"/>
            <a:ext cx="6643324" cy="60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</a:t>
            </a:r>
            <a:r>
              <a:rPr lang="vi-VN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quả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hoạt động theo khu vực / vùng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5" y="1890713"/>
            <a:ext cx="7740302" cy="1440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S</a:t>
            </a:r>
            <a:r>
              <a:rPr lang="en-US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Ơ LƯỢT VỀ TẬP ĐOÀN CÔNG TY </a:t>
            </a: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INDITEX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3657719"/>
            <a:ext cx="7468553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Inditex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là tập đoàn thời trang hàng đầu thế 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giới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trụ sở chính ở 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Tây Ban 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Nha, 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lập vào 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năm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1985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và đồng sáng lập 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bởi Amancio Ortega và Rosalía Mera. Với mô hình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thời trang nhanh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, Inditex có thể đưa sản phẩm mới ra thị trường chỉ trong 2 tuần. Hiện tập đoàn có hơn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7.200 cửa hàng tại 93 quốc gia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và đang hướng tới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phát triển bền vững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trong ngành thời trang.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9662"/>
            <a:ext cx="7148808" cy="879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TRỰC QUAN HÓA DỮ LIỆU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raphic 4" descr="Business Growth outline">
            <a:extLst>
              <a:ext uri="{FF2B5EF4-FFF2-40B4-BE49-F238E27FC236}">
                <a16:creationId xmlns:a16="http://schemas.microsoft.com/office/drawing/2014/main" id="{6B74D132-2890-F51F-4B29-D5D899404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6532" y="3229337"/>
            <a:ext cx="2143047" cy="2255170"/>
          </a:xfrm>
          <a:prstGeom prst="rect">
            <a:avLst/>
          </a:prstGeom>
        </p:spPr>
      </p:pic>
      <p:pic>
        <p:nvPicPr>
          <p:cNvPr id="7" name="Graphic 6" descr="Coins outline">
            <a:extLst>
              <a:ext uri="{FF2B5EF4-FFF2-40B4-BE49-F238E27FC236}">
                <a16:creationId xmlns:a16="http://schemas.microsoft.com/office/drawing/2014/main" id="{414FAE43-3B00-13C4-7308-E90835DD3F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6368" y="2171664"/>
            <a:ext cx="2185258" cy="2185258"/>
          </a:xfrm>
          <a:prstGeom prst="rect">
            <a:avLst/>
          </a:prstGeom>
        </p:spPr>
      </p:pic>
      <p:pic>
        <p:nvPicPr>
          <p:cNvPr id="9" name="Graphic 8" descr="Shopping bag outline">
            <a:extLst>
              <a:ext uri="{FF2B5EF4-FFF2-40B4-BE49-F238E27FC236}">
                <a16:creationId xmlns:a16="http://schemas.microsoft.com/office/drawing/2014/main" id="{7AB89A98-1739-ECE6-A00F-642B8DAAC1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5840" y="272155"/>
            <a:ext cx="2077507" cy="2077507"/>
          </a:xfrm>
          <a:prstGeom prst="rect">
            <a:avLst/>
          </a:prstGeom>
        </p:spPr>
      </p:pic>
      <p:pic>
        <p:nvPicPr>
          <p:cNvPr id="11" name="Graphic 10" descr="Blog outline">
            <a:extLst>
              <a:ext uri="{FF2B5EF4-FFF2-40B4-BE49-F238E27FC236}">
                <a16:creationId xmlns:a16="http://schemas.microsoft.com/office/drawing/2014/main" id="{15B53C52-03A1-C655-E08A-7FAB8128AC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08460" y="5237695"/>
            <a:ext cx="1746354" cy="1746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719" y="0"/>
            <a:ext cx="8009681" cy="82296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7724" y="142886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Trang Tổng Quát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2491859"/>
            <a:ext cx="1196816" cy="1436251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393513" y="2731175"/>
            <a:ext cx="408396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Tỷ Trọng doanh thu theo danh mục sản phẩm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3928110"/>
            <a:ext cx="1196816" cy="1436251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393513" y="5863834"/>
            <a:ext cx="35374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Top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cửa hàng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bán chạy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5364361"/>
            <a:ext cx="1196816" cy="1436251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2393513" y="5603677"/>
            <a:ext cx="408396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AB1086-A5EF-4221-D03A-57408C96F2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5393" y="641631"/>
            <a:ext cx="7680331" cy="6572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2BE4D8-32DE-6825-2FEF-A7F506940771}"/>
              </a:ext>
            </a:extLst>
          </p:cNvPr>
          <p:cNvSpPr txBox="1"/>
          <p:nvPr/>
        </p:nvSpPr>
        <p:spPr>
          <a:xfrm>
            <a:off x="2363490" y="4163036"/>
            <a:ext cx="4204097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Doanh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thu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theo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khu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vực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và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endParaRPr lang="vi-VN" sz="2400" b="1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Doanh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thu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theo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tháng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45" y="533400"/>
            <a:ext cx="6868866" cy="6191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56491" y="2365074"/>
            <a:ext cx="645628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Danh mục có tỷ lệ cao nhất là: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56490" y="3246001"/>
            <a:ext cx="64562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Các danh mục như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Phụ kiện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và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Hàng dệt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chiếm tỷ lệ nhỏ.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56489" y="4509952"/>
            <a:ext cx="645628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Tổng doanh thu năm nay đạt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$22M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, lợi 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nhuận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$</a:t>
            </a:r>
            <a:r>
              <a:rPr lang="vi-VN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9M.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40012" y="5328284"/>
            <a:ext cx="624756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Doanh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thu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khu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vực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và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Doanh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thu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theo</a:t>
            </a:r>
            <a:r>
              <a:rPr lang="en-US" sz="2800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tháng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37724" y="6079986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FD-04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là khu vực có doanh thu cao nhất với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$4,</a:t>
            </a:r>
            <a:r>
              <a:rPr lang="vi-VN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3M.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30496" y="686276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oanh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thu cao nhất vào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tháng 3 ($3,7M)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7E42C9-E97A-D6D6-12C2-4A19CDD16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64" y="300941"/>
            <a:ext cx="13831746" cy="4803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99680"/>
            <a:ext cx="52377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Góp phần quan trọng vào tổng doanh thu 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$22M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36030" y="2965728"/>
            <a:ext cx="5237798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3000"/>
              </a:lnSpc>
              <a:buSzPct val="100000"/>
            </a:pP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endParaRPr lang="vi-VN" sz="2400" dirty="0">
              <a:solidFill>
                <a:srgbClr val="F9EEE7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3000"/>
              </a:lnSpc>
              <a:buSzPct val="100000"/>
              <a:buChar char="•"/>
            </a:pP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Nếu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các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cửa hàng, hàng đầu này tập trung bán các sản phẩm như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Đồ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nam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Giày</a:t>
            </a:r>
            <a:r>
              <a:rPr lang="en-US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, hoặc </a:t>
            </a:r>
            <a:r>
              <a:rPr lang="en-US" sz="2400" b="1" dirty="0" err="1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Đồ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mặc ở nhà</a:t>
            </a:r>
            <a:r>
              <a:rPr lang="en-US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, </a:t>
            </a:r>
            <a:r>
              <a:rPr lang="vi-VN" sz="24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thì có thể doanh thu sẽ cao hơn nữa.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151961-C246-D191-5D13-823DAAAE8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651" y="868101"/>
            <a:ext cx="7500395" cy="57526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3631" y="976792"/>
            <a:ext cx="466765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endParaRPr lang="vi-VN" sz="4400" b="1" dirty="0">
              <a:solidFill>
                <a:srgbClr val="FFD9BE"/>
              </a:solidFill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5500"/>
              </a:lnSpc>
              <a:buNone/>
            </a:pPr>
            <a:r>
              <a:rPr lang="en-US" sz="4400" b="1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</a:t>
            </a:r>
            <a:r>
              <a:rPr lang="en-US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Q</a:t>
            </a:r>
            <a:r>
              <a:rPr lang="en-US" sz="4400" b="1" dirty="0" err="1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uả</a:t>
            </a:r>
            <a:r>
              <a:rPr lang="en-US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Doanh Thu 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            Theo Cửa Hàng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4126" y="4052608"/>
            <a:ext cx="1106822" cy="830580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7334" y="4143737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2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1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013322" y="4837469"/>
            <a:ext cx="3432572" cy="45719"/>
          </a:xfrm>
          <a:prstGeom prst="roundRect">
            <a:avLst>
              <a:gd name="adj" fmla="val 235611"/>
            </a:avLst>
          </a:prstGeom>
          <a:solidFill>
            <a:srgbClr val="2B4948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4126" y="5079537"/>
            <a:ext cx="1355204" cy="830580"/>
          </a:xfrm>
          <a:prstGeom prst="roundRect">
            <a:avLst>
              <a:gd name="adj" fmla="val 4323"/>
            </a:avLst>
          </a:prstGeom>
          <a:solidFill>
            <a:srgbClr val="315251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3271" y="5221726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r>
              <a:rPr lang="en-US" sz="3200" dirty="0">
                <a:solidFill>
                  <a:srgbClr val="F9EEE7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 flipV="1">
            <a:off x="2228227" y="5864398"/>
            <a:ext cx="3544250" cy="45719"/>
          </a:xfrm>
          <a:prstGeom prst="roundRect">
            <a:avLst>
              <a:gd name="adj" fmla="val 235611"/>
            </a:avLst>
          </a:prstGeom>
          <a:solidFill>
            <a:srgbClr val="2B4948"/>
          </a:solidFill>
          <a:ln/>
        </p:spPr>
        <p:txBody>
          <a:bodyPr/>
          <a:lstStyle/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FEA37375-BF5B-F7B2-911E-CAD0BA5CE244}"/>
              </a:ext>
            </a:extLst>
          </p:cNvPr>
          <p:cNvSpPr/>
          <p:nvPr/>
        </p:nvSpPr>
        <p:spPr>
          <a:xfrm>
            <a:off x="5469493" y="3130510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2CE0DA96-2F8A-AE0E-720E-225644B6D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63" y="0"/>
            <a:ext cx="8228137" cy="82296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76B176F-9D9E-CDC3-98C6-5568884E80C4}"/>
              </a:ext>
            </a:extLst>
          </p:cNvPr>
          <p:cNvSpPr txBox="1"/>
          <p:nvPr/>
        </p:nvSpPr>
        <p:spPr>
          <a:xfrm>
            <a:off x="2036920" y="4259800"/>
            <a:ext cx="3809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 thu theo cửa hàng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3C54862-098C-775E-73AF-DE34DF88E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637" y="207184"/>
            <a:ext cx="7932955" cy="736265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7FB0220-CC36-149A-5511-C31E7245225C}"/>
              </a:ext>
            </a:extLst>
          </p:cNvPr>
          <p:cNvSpPr txBox="1"/>
          <p:nvPr/>
        </p:nvSpPr>
        <p:spPr>
          <a:xfrm>
            <a:off x="2261704" y="5019915"/>
            <a:ext cx="3809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+mj-lt"/>
              </a:rPr>
              <a:t>So sánh doanh số bán hàng chênh lệch % theo tháng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1222840" y="4087169"/>
            <a:ext cx="336590" cy="420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2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303A1F-4FB4-7727-B266-8DB2C41AF030}"/>
              </a:ext>
            </a:extLst>
          </p:cNvPr>
          <p:cNvSpPr txBox="1"/>
          <p:nvPr/>
        </p:nvSpPr>
        <p:spPr>
          <a:xfrm>
            <a:off x="354081" y="640997"/>
            <a:ext cx="525898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thấy 3 cửa hàng đứng đầu là </a:t>
            </a:r>
            <a:r>
              <a:rPr lang="vi-V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Charleston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vi-V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Huntington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vi-VN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Harrisburg</a:t>
            </a: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có mức doanh thu cao nhất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sánh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kết quả</a:t>
            </a:r>
          </a:p>
          <a:p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16238" indent="-2916238"/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DF4FFC3-7B2F-A76F-728C-12BF1AF2F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835" y="461011"/>
            <a:ext cx="7708740" cy="736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05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491E-F042-42D1-29CB-6DA6F731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4">
            <a:extLst>
              <a:ext uri="{FF2B5EF4-FFF2-40B4-BE49-F238E27FC236}">
                <a16:creationId xmlns:a16="http://schemas.microsoft.com/office/drawing/2014/main" id="{200787D8-2B5D-A443-CCAA-D45EFC2CA4CA}"/>
              </a:ext>
            </a:extLst>
          </p:cNvPr>
          <p:cNvSpPr/>
          <p:nvPr/>
        </p:nvSpPr>
        <p:spPr>
          <a:xfrm>
            <a:off x="5469493" y="3130510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DC3991-9A02-0760-4B9B-6BDB64BF4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86" y="1256074"/>
            <a:ext cx="12812415" cy="5717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74C0E3-6C23-4F22-C060-DC34DB4EE6E4}"/>
              </a:ext>
            </a:extLst>
          </p:cNvPr>
          <p:cNvSpPr txBox="1"/>
          <p:nvPr/>
        </p:nvSpPr>
        <p:spPr>
          <a:xfrm>
            <a:off x="697525" y="225805"/>
            <a:ext cx="7893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Phân tích và Giải thích </a:t>
            </a:r>
          </a:p>
          <a:p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746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390" y="930235"/>
            <a:ext cx="57135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Quả Theo Thời Gian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Top Corners Snipped 18">
            <a:extLst>
              <a:ext uri="{FF2B5EF4-FFF2-40B4-BE49-F238E27FC236}">
                <a16:creationId xmlns:a16="http://schemas.microsoft.com/office/drawing/2014/main" id="{35A10178-04CC-AC0C-1D50-FBEFD763B79A}"/>
              </a:ext>
            </a:extLst>
          </p:cNvPr>
          <p:cNvSpPr/>
          <p:nvPr/>
        </p:nvSpPr>
        <p:spPr>
          <a:xfrm>
            <a:off x="569090" y="3026230"/>
            <a:ext cx="1250066" cy="833377"/>
          </a:xfrm>
          <a:prstGeom prst="snip2Same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Top Corners Snipped 19">
            <a:extLst>
              <a:ext uri="{FF2B5EF4-FFF2-40B4-BE49-F238E27FC236}">
                <a16:creationId xmlns:a16="http://schemas.microsoft.com/office/drawing/2014/main" id="{0B12A168-873C-C79C-DDAC-3C63013916D0}"/>
              </a:ext>
            </a:extLst>
          </p:cNvPr>
          <p:cNvSpPr/>
          <p:nvPr/>
        </p:nvSpPr>
        <p:spPr>
          <a:xfrm>
            <a:off x="569090" y="3990498"/>
            <a:ext cx="1250066" cy="833377"/>
          </a:xfrm>
          <a:prstGeom prst="snip2Same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Top Corners Snipped 20">
            <a:extLst>
              <a:ext uri="{FF2B5EF4-FFF2-40B4-BE49-F238E27FC236}">
                <a16:creationId xmlns:a16="http://schemas.microsoft.com/office/drawing/2014/main" id="{8A9AB40F-EE4A-64B1-BFD0-F290A1AC1938}"/>
              </a:ext>
            </a:extLst>
          </p:cNvPr>
          <p:cNvSpPr/>
          <p:nvPr/>
        </p:nvSpPr>
        <p:spPr>
          <a:xfrm>
            <a:off x="569090" y="4954766"/>
            <a:ext cx="1250066" cy="833377"/>
          </a:xfrm>
          <a:prstGeom prst="snip2Same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10C788DF-FC67-2BA0-D510-9241E66B2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63" y="0"/>
            <a:ext cx="8228137" cy="8229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A017AA1-3B04-DEC7-066C-FD316F2F5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473" y="509286"/>
            <a:ext cx="7627716" cy="729205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64D05EA-44B2-68BF-97CD-DA436430EA26}"/>
              </a:ext>
            </a:extLst>
          </p:cNvPr>
          <p:cNvSpPr txBox="1"/>
          <p:nvPr/>
        </p:nvSpPr>
        <p:spPr>
          <a:xfrm>
            <a:off x="912939" y="3156431"/>
            <a:ext cx="509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70B646-7D9D-D73E-4352-F59C9822BE2F}"/>
              </a:ext>
            </a:extLst>
          </p:cNvPr>
          <p:cNvSpPr txBox="1"/>
          <p:nvPr/>
        </p:nvSpPr>
        <p:spPr>
          <a:xfrm>
            <a:off x="971543" y="4051940"/>
            <a:ext cx="509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6FB288-01B8-C559-EDBE-2FF09B4CFD35}"/>
              </a:ext>
            </a:extLst>
          </p:cNvPr>
          <p:cNvSpPr txBox="1"/>
          <p:nvPr/>
        </p:nvSpPr>
        <p:spPr>
          <a:xfrm>
            <a:off x="939480" y="5072477"/>
            <a:ext cx="509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10A7BF-9498-60F1-EA5C-7C9A8E28B359}"/>
              </a:ext>
            </a:extLst>
          </p:cNvPr>
          <p:cNvSpPr/>
          <p:nvPr/>
        </p:nvSpPr>
        <p:spPr>
          <a:xfrm>
            <a:off x="1912407" y="3316635"/>
            <a:ext cx="2771871" cy="523221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9E5AED-DBB0-B5F5-CF3F-CD674E4DDC96}"/>
              </a:ext>
            </a:extLst>
          </p:cNvPr>
          <p:cNvSpPr/>
          <p:nvPr/>
        </p:nvSpPr>
        <p:spPr>
          <a:xfrm>
            <a:off x="1912408" y="4137664"/>
            <a:ext cx="3631866" cy="677576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54653C-CDFD-82A2-D352-0CDF6B93F45D}"/>
              </a:ext>
            </a:extLst>
          </p:cNvPr>
          <p:cNvSpPr/>
          <p:nvPr/>
        </p:nvSpPr>
        <p:spPr>
          <a:xfrm>
            <a:off x="1912409" y="5103979"/>
            <a:ext cx="3746120" cy="677575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9C0388-3D4C-8FB3-B4BE-BB7BA2AED685}"/>
              </a:ext>
            </a:extLst>
          </p:cNvPr>
          <p:cNvSpPr txBox="1"/>
          <p:nvPr/>
        </p:nvSpPr>
        <p:spPr>
          <a:xfrm>
            <a:off x="1912407" y="3303160"/>
            <a:ext cx="3913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+mj-lt"/>
              </a:rPr>
              <a:t>Doanh thu theo quý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0B9F0C-09E4-7DB9-2A01-87AC2241750E}"/>
              </a:ext>
            </a:extLst>
          </p:cNvPr>
          <p:cNvSpPr txBox="1"/>
          <p:nvPr/>
        </p:nvSpPr>
        <p:spPr>
          <a:xfrm>
            <a:off x="1883735" y="4060953"/>
            <a:ext cx="3521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+mj-lt"/>
              </a:rPr>
              <a:t>Số lượng sản phẩm bán ra theo tháng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65A640-A414-0F8E-3915-2CB9435B2B46}"/>
              </a:ext>
            </a:extLst>
          </p:cNvPr>
          <p:cNvSpPr txBox="1"/>
          <p:nvPr/>
        </p:nvSpPr>
        <p:spPr>
          <a:xfrm>
            <a:off x="1908573" y="5065888"/>
            <a:ext cx="3660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bg1"/>
                </a:solidFill>
                <a:latin typeface="+mj-lt"/>
              </a:rPr>
              <a:t>Sản lượng bán năm nay &amp; năm trước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 spd="slow"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2E9C-C5D5-2805-5008-12374EFE2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D3A83F-CCC1-2982-40FB-D60DD5C01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26" y="445625"/>
            <a:ext cx="13830347" cy="4693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8CD58-E4C2-1255-6659-600B60799F5A}"/>
              </a:ext>
            </a:extLst>
          </p:cNvPr>
          <p:cNvSpPr txBox="1"/>
          <p:nvPr/>
        </p:nvSpPr>
        <p:spPr>
          <a:xfrm>
            <a:off x="400026" y="5335929"/>
            <a:ext cx="129340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 nhìn vào bảng này thấy được sự giảm đột ngột của quý 3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vi-V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thích nội dung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31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0AFF-97F4-025A-4D22-F1901745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47706-7A10-9787-DE9C-1AFAAD66D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15" y="371194"/>
            <a:ext cx="13797023" cy="3743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147229-3D78-0119-AB0F-0B90A3F74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15" y="4282634"/>
            <a:ext cx="13797023" cy="357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9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0C0DB-7754-3370-D346-2C3075DD1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1D4B5B-75A4-47AD-3E9A-467852545CCB}"/>
              </a:ext>
            </a:extLst>
          </p:cNvPr>
          <p:cNvSpPr/>
          <p:nvPr/>
        </p:nvSpPr>
        <p:spPr>
          <a:xfrm>
            <a:off x="370390" y="930235"/>
            <a:ext cx="571354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Kết Quả Hoạt Động </a:t>
            </a:r>
          </a:p>
          <a:p>
            <a:pPr marL="0" indent="0" algn="l">
              <a:lnSpc>
                <a:spcPts val="5500"/>
              </a:lnSpc>
              <a:buNone/>
            </a:pPr>
            <a:r>
              <a:rPr lang="vi-VN" sz="4400" b="1" dirty="0">
                <a:solidFill>
                  <a:srgbClr val="FFD9BE"/>
                </a:solidFill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    Theo Khu Vực / Vùng 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52532F5F-A9FF-A950-78FC-65947D48F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63" y="0"/>
            <a:ext cx="8228137" cy="8229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E86E098-915F-15CD-FDC5-4C5495A15863}"/>
              </a:ext>
            </a:extLst>
          </p:cNvPr>
          <p:cNvSpPr/>
          <p:nvPr/>
        </p:nvSpPr>
        <p:spPr>
          <a:xfrm>
            <a:off x="1574157" y="3102015"/>
            <a:ext cx="4120587" cy="914400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Doanh thu theo vùng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BF8C4-9818-3FA7-F68B-94541E3B2608}"/>
              </a:ext>
            </a:extLst>
          </p:cNvPr>
          <p:cNvSpPr/>
          <p:nvPr/>
        </p:nvSpPr>
        <p:spPr>
          <a:xfrm>
            <a:off x="1574157" y="4516512"/>
            <a:ext cx="4120587" cy="914400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25475"/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lượng cửa hàng </a:t>
            </a:r>
          </a:p>
          <a:p>
            <a:pPr marL="625475"/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&amp; Doanh thu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7F411-8EDB-77FC-B199-3C693DC341A4}"/>
              </a:ext>
            </a:extLst>
          </p:cNvPr>
          <p:cNvSpPr/>
          <p:nvPr/>
        </p:nvSpPr>
        <p:spPr>
          <a:xfrm>
            <a:off x="1574156" y="5931010"/>
            <a:ext cx="4120587" cy="914400"/>
          </a:xfrm>
          <a:prstGeom prst="rect">
            <a:avLst/>
          </a:prstGeom>
          <a:solidFill>
            <a:srgbClr val="2B49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63550" indent="173038" algn="ctr"/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Biên lợi nhuận theo vùng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EE8A76-07A2-AA58-C38B-7943A7199C19}"/>
              </a:ext>
            </a:extLst>
          </p:cNvPr>
          <p:cNvSpPr/>
          <p:nvPr/>
        </p:nvSpPr>
        <p:spPr>
          <a:xfrm>
            <a:off x="1223300" y="2733323"/>
            <a:ext cx="960755" cy="1147530"/>
          </a:xfrm>
          <a:prstGeom prst="round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F788BBC-CCAC-6CE7-5807-7524233E0777}"/>
              </a:ext>
            </a:extLst>
          </p:cNvPr>
          <p:cNvSpPr/>
          <p:nvPr/>
        </p:nvSpPr>
        <p:spPr>
          <a:xfrm>
            <a:off x="1223297" y="4141609"/>
            <a:ext cx="960755" cy="1147530"/>
          </a:xfrm>
          <a:prstGeom prst="round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0496BA-C8DE-D9D1-0F40-011751169744}"/>
              </a:ext>
            </a:extLst>
          </p:cNvPr>
          <p:cNvSpPr/>
          <p:nvPr/>
        </p:nvSpPr>
        <p:spPr>
          <a:xfrm>
            <a:off x="1223300" y="5546823"/>
            <a:ext cx="960755" cy="1147530"/>
          </a:xfrm>
          <a:prstGeom prst="roundRect">
            <a:avLst/>
          </a:prstGeom>
          <a:solidFill>
            <a:srgbClr val="3152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7109EC-A736-500D-5F24-C9F62E31D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271" y="206922"/>
            <a:ext cx="7913556" cy="777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0233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51F8-E162-803C-7D22-ECF8A12A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6DCCB3-48AE-5974-B7E7-563A1686F0C0}"/>
              </a:ext>
            </a:extLst>
          </p:cNvPr>
          <p:cNvSpPr txBox="1"/>
          <p:nvPr/>
        </p:nvSpPr>
        <p:spPr>
          <a:xfrm>
            <a:off x="254642" y="5552411"/>
            <a:ext cx="134845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Những từ như: OH, PA, WV,….Là từ viết tắt của các quốc giá và vùng lãnh thổ.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Phân tích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vi-VN" sz="2400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dirty="0">
                <a:solidFill>
                  <a:schemeClr val="bg1"/>
                </a:solidFill>
                <a:latin typeface="+mj-lt"/>
              </a:rPr>
              <a:t>Giải thích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37C8AB8-6E71-DA7F-1356-5E30FCA42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51" y="231494"/>
            <a:ext cx="12847897" cy="523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26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3B80C-C4EC-6D53-0D58-CD24CB0F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9ABCC1-B584-05BD-3D13-F111E992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13" y="298298"/>
            <a:ext cx="6308202" cy="7225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1C79D7-DF4E-A82F-D8BD-EB25B671F91F}"/>
              </a:ext>
            </a:extLst>
          </p:cNvPr>
          <p:cNvSpPr txBox="1"/>
          <p:nvPr/>
        </p:nvSpPr>
        <p:spPr>
          <a:xfrm>
            <a:off x="312517" y="2786855"/>
            <a:ext cx="7454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chemeClr val="bg1"/>
                </a:solidFill>
                <a:latin typeface="+mj-lt"/>
              </a:rPr>
              <a:t>Có thể thấy OH, PA và WV vẫn có số lượng cao nhất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vi-VN" sz="2400" b="1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b="1" dirty="0">
                <a:solidFill>
                  <a:schemeClr val="bg1"/>
                </a:solidFill>
                <a:latin typeface="+mj-lt"/>
              </a:rPr>
              <a:t>Phân tích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vi-VN" sz="2400" b="1" dirty="0">
              <a:solidFill>
                <a:schemeClr val="bg1"/>
              </a:solidFill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vi-VN" sz="2400" b="1" dirty="0">
                <a:solidFill>
                  <a:schemeClr val="bg1"/>
                </a:solidFill>
                <a:latin typeface="+mj-lt"/>
              </a:rPr>
              <a:t>Giải thích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8463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24892" y="2008108"/>
            <a:ext cx="7660530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vi-VN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Giải Pháp </a:t>
            </a:r>
            <a:r>
              <a:rPr lang="en-US" sz="4400" dirty="0" err="1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và</a:t>
            </a: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vi-VN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Dự Đoán Những   		Năm Tiếp Theo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923" y="3846085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0759" y="4512554"/>
            <a:ext cx="225016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vi-VN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Doanh thu tăng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969760" y="5072539"/>
            <a:ext cx="331216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Biến</a:t>
            </a: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</a:t>
            </a:r>
            <a:r>
              <a:rPr lang="en-US" sz="1850" dirty="0" err="1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động</a:t>
            </a:r>
            <a:r>
              <a:rPr lang="vi-VN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doanh thu các năm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8206" y="3769854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964972" y="4510162"/>
            <a:ext cx="9460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Bài học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654110" y="5041020"/>
            <a:ext cx="3933333" cy="413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Tập trung vào chất lượng và đổi mới.</a:t>
            </a:r>
            <a:endParaRPr lang="en-US" sz="1850" dirty="0"/>
          </a:p>
        </p:txBody>
      </p:sp>
      <p:pic>
        <p:nvPicPr>
          <p:cNvPr id="14" name="Picture 13" descr="A group of people standing in front of a globe">
            <a:extLst>
              <a:ext uri="{FF2B5EF4-FFF2-40B4-BE49-F238E27FC236}">
                <a16:creationId xmlns:a16="http://schemas.microsoft.com/office/drawing/2014/main" id="{D274B425-C449-79EA-D314-2B6D8E678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659757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D7A1E68-E9BF-B7B3-D396-96396682A467}"/>
              </a:ext>
            </a:extLst>
          </p:cNvPr>
          <p:cNvSpPr txBox="1"/>
          <p:nvPr/>
        </p:nvSpPr>
        <p:spPr>
          <a:xfrm>
            <a:off x="428263" y="177488"/>
            <a:ext cx="12570107" cy="7112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pháp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Học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vùng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(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lợi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nhuận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chi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thấp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trưởng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Morgantown.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mùa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Đẩy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quý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 mùa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giày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ngủ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​​3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 : Doanh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đạt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$24,6M–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 : Đạt $27M –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indent="-4508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2027 :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USD –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doanh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vững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D152-50EC-2F15-8626-133A87A28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44DB9-85C8-9E3B-DB00-CF0D94FF6E37}"/>
              </a:ext>
            </a:extLst>
          </p:cNvPr>
          <p:cNvSpPr txBox="1"/>
          <p:nvPr/>
        </p:nvSpPr>
        <p:spPr>
          <a:xfrm>
            <a:off x="2986268" y="3653135"/>
            <a:ext cx="8657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 everyone!</a:t>
            </a:r>
          </a:p>
        </p:txBody>
      </p:sp>
    </p:spTree>
    <p:extLst>
      <p:ext uri="{BB962C8B-B14F-4D97-AF65-F5344CB8AC3E}">
        <p14:creationId xmlns:p14="http://schemas.microsoft.com/office/powerpoint/2010/main" val="1217080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732</Words>
  <Application>Microsoft Office PowerPoint</Application>
  <PresentationFormat>Custom</PresentationFormat>
  <Paragraphs>118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Courier New</vt:lpstr>
      <vt:lpstr>Wingdings</vt:lpstr>
      <vt:lpstr>Times New Roman</vt:lpstr>
      <vt:lpstr>Quattrocento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 lê</cp:lastModifiedBy>
  <cp:revision>34</cp:revision>
  <dcterms:created xsi:type="dcterms:W3CDTF">2025-04-12T14:44:23Z</dcterms:created>
  <dcterms:modified xsi:type="dcterms:W3CDTF">2025-05-07T12:55:35Z</dcterms:modified>
</cp:coreProperties>
</file>